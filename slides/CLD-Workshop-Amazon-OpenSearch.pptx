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66" autoAdjust="0"/>
    <p:restoredTop sz="94660"/>
  </p:normalViewPr>
  <p:slideViewPr>
    <p:cSldViewPr snapToGrid="0" snapToObjects="1">
      <p:cViewPr varScale="1">
        <p:scale>
          <a:sx n="93" d="100"/>
          <a:sy n="93" d="100"/>
        </p:scale>
        <p:origin x="72" y="12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829800" y="0"/>
            <a:ext cx="2359152" cy="6858000"/>
          </a:xfrm>
          <a:prstGeom prst="rect">
            <a:avLst/>
          </a:prstGeom>
          <a:solidFill>
            <a:srgbClr val="262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Freeform 2"/>
          <p:cNvSpPr/>
          <p:nvPr/>
        </p:nvSpPr>
        <p:spPr>
          <a:xfrm>
            <a:off x="7818120" y="5833872"/>
            <a:ext cx="4373575" cy="1024128"/>
          </a:xfrm>
          <a:custGeom>
            <a:avLst/>
            <a:gdLst/>
            <a:ahLst/>
            <a:cxnLst/>
            <a:rect l="l" t="t" r="r" b="b"/>
            <a:pathLst>
              <a:path w="4373575" h="1024128">
                <a:moveTo>
                  <a:pt x="0" y="1024128"/>
                </a:moveTo>
                <a:lnTo>
                  <a:pt x="4373575" y="0"/>
                </a:lnTo>
                <a:lnTo>
                  <a:pt x="4373575" y="1024128"/>
                </a:lnTo>
                <a:close/>
              </a:path>
            </a:pathLst>
          </a:custGeom>
          <a:solidFill>
            <a:srgbClr val="D21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96240" y="6327648"/>
            <a:ext cx="4389120" cy="14630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750" b="0" dirty="0">
                <a:solidFill>
                  <a:srgbClr val="555F70"/>
                </a:solidFill>
                <a:latin typeface="Aptos"/>
              </a:rPr>
              <a:t>HEIG-VD CLD 2025/26 · Amazon OpenSearch Service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281928"/>
            <a:ext cx="50292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1000" b="0">
                <a:solidFill>
                  <a:srgbClr val="212D3C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6240" y="587028"/>
            <a:ext cx="2126845" cy="22159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1200" b="1" dirty="0">
                <a:solidFill>
                  <a:srgbClr val="26245B"/>
                </a:solidFill>
                <a:latin typeface="Aptos"/>
              </a:rPr>
              <a:t>WORKSHOP CLD</a:t>
            </a:r>
            <a:r>
              <a:rPr lang="fr-CH" sz="1200" b="1" dirty="0">
                <a:solidFill>
                  <a:srgbClr val="26245B"/>
                </a:solidFill>
                <a:latin typeface="Aptos"/>
              </a:rPr>
              <a:t> - 2026</a:t>
            </a:r>
            <a:endParaRPr sz="1200" b="1" dirty="0">
              <a:solidFill>
                <a:srgbClr val="26245B"/>
              </a:solidFill>
              <a:latin typeface="Apto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66928" y="1664208"/>
            <a:ext cx="6217920" cy="9144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3400" b="1" dirty="0">
                <a:solidFill>
                  <a:srgbClr val="212D3C"/>
                </a:solidFill>
                <a:latin typeface="Aptos Display"/>
              </a:rPr>
              <a:t>Amazon OpenSearch
Service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060273"/>
            <a:ext cx="5715000" cy="59093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b="0" dirty="0">
                <a:solidFill>
                  <a:srgbClr val="555F70"/>
                </a:solidFill>
                <a:latin typeface="Aptos"/>
              </a:rPr>
              <a:t>Recherche et </a:t>
            </a:r>
            <a:r>
              <a:rPr b="0" dirty="0" err="1">
                <a:solidFill>
                  <a:srgbClr val="555F70"/>
                </a:solidFill>
                <a:latin typeface="Aptos"/>
              </a:rPr>
              <a:t>analyse</a:t>
            </a:r>
            <a:r>
              <a:rPr b="0" dirty="0">
                <a:solidFill>
                  <a:srgbClr val="555F70"/>
                </a:solidFill>
                <a:latin typeface="Aptos"/>
              </a:rPr>
              <a:t> </a:t>
            </a:r>
            <a:r>
              <a:rPr b="0" dirty="0" err="1">
                <a:solidFill>
                  <a:srgbClr val="555F70"/>
                </a:solidFill>
                <a:latin typeface="Aptos"/>
              </a:rPr>
              <a:t>centralisée</a:t>
            </a:r>
            <a:r>
              <a:rPr b="0" dirty="0">
                <a:solidFill>
                  <a:srgbClr val="555F70"/>
                </a:solidFill>
                <a:latin typeface="Aptos"/>
              </a:rPr>
              <a:t> des logs pour </a:t>
            </a:r>
            <a:r>
              <a:rPr b="0" dirty="0" err="1">
                <a:solidFill>
                  <a:srgbClr val="555F70"/>
                </a:solidFill>
                <a:latin typeface="Aptos"/>
              </a:rPr>
              <a:t>une</a:t>
            </a:r>
            <a:r>
              <a:rPr b="0" dirty="0">
                <a:solidFill>
                  <a:srgbClr val="555F70"/>
                </a:solidFill>
                <a:latin typeface="Aptos"/>
              </a:rPr>
              <a:t> PME </a:t>
            </a:r>
            <a:r>
              <a:rPr b="0" dirty="0" err="1">
                <a:solidFill>
                  <a:srgbClr val="555F70"/>
                </a:solidFill>
                <a:latin typeface="Aptos"/>
              </a:rPr>
              <a:t>suisse</a:t>
            </a:r>
            <a:r>
              <a:rPr lang="fr-CH" b="0" dirty="0">
                <a:solidFill>
                  <a:srgbClr val="555F70"/>
                </a:solidFill>
                <a:latin typeface="Aptos"/>
              </a:rPr>
              <a:t>.</a:t>
            </a:r>
            <a:endParaRPr b="0" dirty="0">
              <a:solidFill>
                <a:srgbClr val="555F70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21792" y="5239512"/>
            <a:ext cx="5349240" cy="25237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1" dirty="0" err="1">
                <a:solidFill>
                  <a:srgbClr val="555F70"/>
                </a:solidFill>
                <a:latin typeface="Aptos"/>
              </a:rPr>
              <a:t>Koray</a:t>
            </a:r>
            <a:r>
              <a:rPr sz="1400" b="1" dirty="0">
                <a:solidFill>
                  <a:srgbClr val="555F70"/>
                </a:solidFill>
                <a:latin typeface="Aptos"/>
              </a:rPr>
              <a:t> </a:t>
            </a:r>
            <a:r>
              <a:rPr sz="1400" b="1" dirty="0" err="1">
                <a:solidFill>
                  <a:srgbClr val="555F70"/>
                </a:solidFill>
                <a:latin typeface="Aptos"/>
              </a:rPr>
              <a:t>Akgül</a:t>
            </a:r>
            <a:r>
              <a:rPr sz="1400" b="1" dirty="0">
                <a:solidFill>
                  <a:srgbClr val="555F70"/>
                </a:solidFill>
                <a:latin typeface="Aptos"/>
              </a:rPr>
              <a:t>, Nathan </a:t>
            </a:r>
            <a:r>
              <a:rPr sz="1400" b="1" dirty="0" err="1">
                <a:solidFill>
                  <a:srgbClr val="555F70"/>
                </a:solidFill>
                <a:latin typeface="Aptos"/>
              </a:rPr>
              <a:t>Stampfli</a:t>
            </a:r>
            <a:r>
              <a:rPr lang="fr-CH" sz="1400" b="1" dirty="0">
                <a:solidFill>
                  <a:srgbClr val="555F70"/>
                </a:solidFill>
                <a:latin typeface="Aptos"/>
              </a:rPr>
              <a:t>, Victor Giordani, Abram </a:t>
            </a:r>
            <a:r>
              <a:rPr lang="fr-CH" sz="1400" b="1" dirty="0" err="1">
                <a:solidFill>
                  <a:srgbClr val="555F70"/>
                </a:solidFill>
                <a:latin typeface="Aptos"/>
              </a:rPr>
              <a:t>Zweifel</a:t>
            </a:r>
            <a:endParaRPr sz="1400" b="1" dirty="0">
              <a:solidFill>
                <a:srgbClr val="555F70"/>
              </a:solidFill>
              <a:latin typeface="Apto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34472" y="2942082"/>
            <a:ext cx="68580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1300" b="1">
                <a:solidFill>
                  <a:srgbClr val="26245B"/>
                </a:solidFill>
                <a:latin typeface="Aptos"/>
              </a:rPr>
              <a:t>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4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7818120" y="5833872"/>
            <a:ext cx="4373575" cy="1024128"/>
          </a:xfrm>
          <a:custGeom>
            <a:avLst/>
            <a:gdLst/>
            <a:ahLst/>
            <a:cxnLst/>
            <a:rect l="l" t="t" r="r" b="b"/>
            <a:pathLst>
              <a:path w="4373575" h="1024128">
                <a:moveTo>
                  <a:pt x="0" y="1024128"/>
                </a:moveTo>
                <a:lnTo>
                  <a:pt x="4373575" y="0"/>
                </a:lnTo>
                <a:lnTo>
                  <a:pt x="4373575" y="1024128"/>
                </a:lnTo>
                <a:close/>
              </a:path>
            </a:pathLst>
          </a:custGeom>
          <a:solidFill>
            <a:srgbClr val="D21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96240" y="6294171"/>
            <a:ext cx="4389120" cy="15234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750" b="0" dirty="0">
                <a:solidFill>
                  <a:srgbClr val="DCDEEE"/>
                </a:solidFill>
                <a:latin typeface="Aptos"/>
              </a:rPr>
              <a:t>HEIG-VD CLD 2025/26 </a:t>
            </a:r>
            <a:r>
              <a:rPr lang="fr-CH" sz="750" dirty="0">
                <a:solidFill>
                  <a:srgbClr val="DCDEEE"/>
                </a:solidFill>
                <a:latin typeface="Aptos"/>
              </a:rPr>
              <a:t> - </a:t>
            </a:r>
            <a:r>
              <a:rPr sz="750" b="0" dirty="0">
                <a:solidFill>
                  <a:srgbClr val="DCDEEE"/>
                </a:solidFill>
                <a:latin typeface="Aptos"/>
              </a:rPr>
              <a:t>Amazon OpenSearch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281928"/>
            <a:ext cx="50292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21792"/>
            <a:ext cx="10515600" cy="6583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ptos Display"/>
              </a:rPr>
              <a:t>Défis côté client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" y="1307592"/>
            <a:ext cx="9784080" cy="28315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0" dirty="0">
                <a:solidFill>
                  <a:srgbClr val="D5DAED"/>
                </a:solidFill>
                <a:latin typeface="Aptos"/>
              </a:rPr>
              <a:t>Une PME e-commerce </a:t>
            </a:r>
            <a:r>
              <a:rPr sz="1600" b="0" dirty="0" err="1">
                <a:solidFill>
                  <a:srgbClr val="D5DAED"/>
                </a:solidFill>
                <a:latin typeface="Aptos"/>
              </a:rPr>
              <a:t>suisse</a:t>
            </a:r>
            <a:r>
              <a:rPr sz="1600" b="0" dirty="0">
                <a:solidFill>
                  <a:srgbClr val="D5DAED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D5DAED"/>
                </a:solidFill>
                <a:latin typeface="Aptos"/>
              </a:rPr>
              <a:t>opère</a:t>
            </a:r>
            <a:r>
              <a:rPr sz="1600" b="0" dirty="0">
                <a:solidFill>
                  <a:srgbClr val="D5DAED"/>
                </a:solidFill>
                <a:latin typeface="Aptos"/>
              </a:rPr>
              <a:t> </a:t>
            </a:r>
            <a:r>
              <a:rPr sz="1600" b="0" dirty="0" err="1">
                <a:solidFill>
                  <a:srgbClr val="D5DAED"/>
                </a:solidFill>
                <a:latin typeface="Aptos"/>
              </a:rPr>
              <a:t>plusieurs</a:t>
            </a:r>
            <a:r>
              <a:rPr sz="1600" b="0" dirty="0">
                <a:solidFill>
                  <a:srgbClr val="D5DAED"/>
                </a:solidFill>
                <a:latin typeface="Aptos"/>
              </a:rPr>
              <a:t> services AWS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2240187"/>
            <a:ext cx="3429000" cy="2788920"/>
          </a:xfrm>
          <a:prstGeom prst="rect">
            <a:avLst/>
          </a:prstGeom>
          <a:solidFill>
            <a:srgbClr val="312D73"/>
          </a:solidFill>
          <a:ln w="12700">
            <a:solidFill>
              <a:srgbClr val="565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14400" y="2532795"/>
            <a:ext cx="512064" cy="512064"/>
          </a:xfrm>
          <a:prstGeom prst="ellipse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2681294"/>
            <a:ext cx="512064" cy="122895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1200" b="1">
                <a:solidFill>
                  <a:srgbClr val="26245B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596639"/>
            <a:ext cx="2194560" cy="31089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900" b="1" dirty="0">
                <a:solidFill>
                  <a:srgbClr val="FF9900"/>
                </a:solidFill>
                <a:latin typeface="Aptos"/>
              </a:rPr>
              <a:t>Logs </a:t>
            </a:r>
            <a:r>
              <a:rPr sz="1900" b="1" dirty="0" err="1">
                <a:solidFill>
                  <a:srgbClr val="FF9900"/>
                </a:solidFill>
                <a:latin typeface="Aptos"/>
              </a:rPr>
              <a:t>dispersés</a:t>
            </a:r>
            <a:endParaRPr sz="1900" b="1" dirty="0">
              <a:solidFill>
                <a:srgbClr val="FF9900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41832" y="3200307"/>
            <a:ext cx="2788920" cy="98847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>
              <a:spcAft>
                <a:spcPts val="700"/>
              </a:spcAft>
            </a:pPr>
            <a:r>
              <a:rPr sz="1400" dirty="0">
                <a:solidFill>
                  <a:srgbClr val="FFFFFF"/>
                </a:solidFill>
                <a:latin typeface="Aptos"/>
              </a:rPr>
              <a:t>EC2, load balancers, checkout, payment, auth.</a:t>
            </a:r>
          </a:p>
          <a:p>
            <a:pPr>
              <a:spcAft>
                <a:spcPts val="700"/>
              </a:spcAft>
            </a:pPr>
            <a:r>
              <a:rPr sz="1400" dirty="0" err="1">
                <a:solidFill>
                  <a:srgbClr val="FFFFFF"/>
                </a:solidFill>
                <a:latin typeface="Aptos"/>
              </a:rPr>
              <a:t>Chaque</a:t>
            </a:r>
            <a:r>
              <a:rPr sz="1400" dirty="0">
                <a:solidFill>
                  <a:srgbClr val="FFFFFF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FFFFFF"/>
                </a:solidFill>
                <a:latin typeface="Aptos"/>
              </a:rPr>
              <a:t>composant</a:t>
            </a:r>
            <a:r>
              <a:rPr sz="1400" dirty="0">
                <a:solidFill>
                  <a:srgbClr val="FFFFFF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FFFFFF"/>
                </a:solidFill>
                <a:latin typeface="Aptos"/>
              </a:rPr>
              <a:t>possède</a:t>
            </a:r>
            <a:r>
              <a:rPr sz="1400" dirty="0">
                <a:solidFill>
                  <a:srgbClr val="FFFFFF"/>
                </a:solidFill>
                <a:latin typeface="Aptos"/>
              </a:rPr>
              <a:t> son propre format.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70832" y="2240187"/>
            <a:ext cx="3429000" cy="2788920"/>
          </a:xfrm>
          <a:prstGeom prst="rect">
            <a:avLst/>
          </a:prstGeom>
          <a:solidFill>
            <a:srgbClr val="312D73"/>
          </a:solidFill>
          <a:ln w="12700">
            <a:solidFill>
              <a:srgbClr val="565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4663440" y="2532795"/>
            <a:ext cx="512064" cy="512064"/>
          </a:xfrm>
          <a:prstGeom prst="ellipse">
            <a:avLst/>
          </a:prstGeom>
          <a:solidFill>
            <a:srgbClr val="00AA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63440" y="2681294"/>
            <a:ext cx="512064" cy="122895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1200" b="1">
                <a:solidFill>
                  <a:srgbClr val="26245B"/>
                </a:solidFill>
                <a:latin typeface="Apto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0952" y="2633379"/>
            <a:ext cx="2194560" cy="31089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900" b="1" dirty="0">
                <a:solidFill>
                  <a:srgbClr val="00AABE"/>
                </a:solidFill>
                <a:latin typeface="Aptos"/>
              </a:rPr>
              <a:t>Diagnostic lent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3200307"/>
            <a:ext cx="2788920" cy="1203919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>
              <a:spcAft>
                <a:spcPts val="700"/>
              </a:spcAft>
            </a:pPr>
            <a:r>
              <a:rPr sz="1400" dirty="0">
                <a:solidFill>
                  <a:srgbClr val="FFFFFF"/>
                </a:solidFill>
                <a:latin typeface="Aptos"/>
              </a:rPr>
              <a:t>Les </a:t>
            </a:r>
            <a:r>
              <a:rPr sz="1400" dirty="0" err="1">
                <a:solidFill>
                  <a:srgbClr val="FFFFFF"/>
                </a:solidFill>
                <a:latin typeface="Aptos"/>
              </a:rPr>
              <a:t>erreurs</a:t>
            </a:r>
            <a:r>
              <a:rPr sz="1400" dirty="0">
                <a:solidFill>
                  <a:srgbClr val="FFFFFF"/>
                </a:solidFill>
                <a:latin typeface="Aptos"/>
              </a:rPr>
              <a:t> HTTP 500/504 </a:t>
            </a:r>
            <a:r>
              <a:rPr sz="1400" dirty="0" err="1">
                <a:solidFill>
                  <a:srgbClr val="FFFFFF"/>
                </a:solidFill>
                <a:latin typeface="Aptos"/>
              </a:rPr>
              <a:t>demandent</a:t>
            </a:r>
            <a:r>
              <a:rPr sz="1400" dirty="0">
                <a:solidFill>
                  <a:srgbClr val="FFFFFF"/>
                </a:solidFill>
                <a:latin typeface="Aptos"/>
              </a:rPr>
              <a:t> des </a:t>
            </a:r>
            <a:r>
              <a:rPr sz="1400" dirty="0" err="1">
                <a:solidFill>
                  <a:srgbClr val="FFFFFF"/>
                </a:solidFill>
                <a:latin typeface="Aptos"/>
              </a:rPr>
              <a:t>recherches</a:t>
            </a:r>
            <a:r>
              <a:rPr sz="1400" dirty="0">
                <a:solidFill>
                  <a:srgbClr val="FFFFFF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FFFFFF"/>
                </a:solidFill>
                <a:latin typeface="Aptos"/>
              </a:rPr>
              <a:t>manuelles</a:t>
            </a:r>
            <a:r>
              <a:rPr sz="1400" dirty="0">
                <a:solidFill>
                  <a:srgbClr val="FFFFFF"/>
                </a:solidFill>
                <a:latin typeface="Aptos"/>
              </a:rPr>
              <a:t>.</a:t>
            </a:r>
          </a:p>
          <a:p>
            <a:pPr>
              <a:spcAft>
                <a:spcPts val="700"/>
              </a:spcAft>
            </a:pPr>
            <a:r>
              <a:rPr sz="1400" dirty="0">
                <a:solidFill>
                  <a:srgbClr val="FFFFFF"/>
                </a:solidFill>
                <a:latin typeface="Aptos"/>
              </a:rPr>
              <a:t>La </a:t>
            </a:r>
            <a:r>
              <a:rPr sz="1400" dirty="0" err="1">
                <a:solidFill>
                  <a:srgbClr val="FFFFFF"/>
                </a:solidFill>
                <a:latin typeface="Aptos"/>
              </a:rPr>
              <a:t>corrélation</a:t>
            </a:r>
            <a:r>
              <a:rPr sz="1400" dirty="0">
                <a:solidFill>
                  <a:srgbClr val="FFFFFF"/>
                </a:solidFill>
                <a:latin typeface="Aptos"/>
              </a:rPr>
              <a:t> entre services </a:t>
            </a:r>
            <a:r>
              <a:rPr sz="1400" dirty="0" err="1">
                <a:solidFill>
                  <a:srgbClr val="FFFFFF"/>
                </a:solidFill>
                <a:latin typeface="Aptos"/>
              </a:rPr>
              <a:t>prend</a:t>
            </a:r>
            <a:r>
              <a:rPr sz="1400" dirty="0">
                <a:solidFill>
                  <a:srgbClr val="FFFFFF"/>
                </a:solidFill>
                <a:latin typeface="Aptos"/>
              </a:rPr>
              <a:t> trop de temps.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19872" y="2240187"/>
            <a:ext cx="3429000" cy="2788920"/>
          </a:xfrm>
          <a:prstGeom prst="rect">
            <a:avLst/>
          </a:prstGeom>
          <a:solidFill>
            <a:srgbClr val="312D73"/>
          </a:solidFill>
          <a:ln w="12700">
            <a:solidFill>
              <a:srgbClr val="565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412480" y="2532795"/>
            <a:ext cx="512064" cy="512064"/>
          </a:xfrm>
          <a:prstGeom prst="ellipse">
            <a:avLst/>
          </a:prstGeom>
          <a:solidFill>
            <a:srgbClr val="54C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80" y="2681294"/>
            <a:ext cx="512064" cy="122895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1200" b="1">
                <a:solidFill>
                  <a:srgbClr val="26245B"/>
                </a:solidFill>
                <a:latin typeface="Aptos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2596639"/>
            <a:ext cx="2194560" cy="31089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900" b="1" dirty="0">
                <a:solidFill>
                  <a:srgbClr val="54C484"/>
                </a:solidFill>
                <a:latin typeface="Aptos"/>
              </a:rPr>
              <a:t>Solution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39912" y="3200307"/>
            <a:ext cx="2788920" cy="98847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>
              <a:spcAft>
                <a:spcPts val="700"/>
              </a:spcAft>
            </a:pPr>
            <a:r>
              <a:rPr sz="1400" dirty="0">
                <a:solidFill>
                  <a:srgbClr val="FFFFFF"/>
                </a:solidFill>
                <a:latin typeface="Aptos"/>
              </a:rPr>
              <a:t>OpenSearch </a:t>
            </a:r>
            <a:r>
              <a:rPr sz="1400" dirty="0" err="1">
                <a:solidFill>
                  <a:srgbClr val="FFFFFF"/>
                </a:solidFill>
                <a:latin typeface="Aptos"/>
              </a:rPr>
              <a:t>centralise</a:t>
            </a:r>
            <a:r>
              <a:rPr sz="1400" dirty="0">
                <a:solidFill>
                  <a:srgbClr val="FFFFFF"/>
                </a:solidFill>
                <a:latin typeface="Aptos"/>
              </a:rPr>
              <a:t>, </a:t>
            </a:r>
            <a:r>
              <a:rPr sz="1400" dirty="0" err="1">
                <a:solidFill>
                  <a:srgbClr val="FFFFFF"/>
                </a:solidFill>
                <a:latin typeface="Aptos"/>
              </a:rPr>
              <a:t>indexe</a:t>
            </a:r>
            <a:r>
              <a:rPr sz="1400" dirty="0">
                <a:solidFill>
                  <a:srgbClr val="FFFFFF"/>
                </a:solidFill>
                <a:latin typeface="Aptos"/>
              </a:rPr>
              <a:t> et rend les logs </a:t>
            </a:r>
            <a:r>
              <a:rPr sz="1400" dirty="0" err="1">
                <a:solidFill>
                  <a:srgbClr val="FFFFFF"/>
                </a:solidFill>
                <a:latin typeface="Aptos"/>
              </a:rPr>
              <a:t>recherchables</a:t>
            </a:r>
            <a:r>
              <a:rPr sz="1400" dirty="0">
                <a:solidFill>
                  <a:srgbClr val="FFFFFF"/>
                </a:solidFill>
                <a:latin typeface="Aptos"/>
              </a:rPr>
              <a:t>.</a:t>
            </a:r>
          </a:p>
          <a:p>
            <a:pPr>
              <a:spcAft>
                <a:spcPts val="700"/>
              </a:spcAft>
            </a:pPr>
            <a:r>
              <a:rPr sz="1400" dirty="0" err="1">
                <a:solidFill>
                  <a:srgbClr val="FFFFFF"/>
                </a:solidFill>
                <a:latin typeface="Aptos"/>
              </a:rPr>
              <a:t>Même</a:t>
            </a:r>
            <a:r>
              <a:rPr sz="1400" dirty="0">
                <a:solidFill>
                  <a:srgbClr val="FFFFFF"/>
                </a:solidFill>
                <a:latin typeface="Aptos"/>
              </a:rPr>
              <a:t> API pour la </a:t>
            </a:r>
            <a:r>
              <a:rPr sz="1400" dirty="0" err="1">
                <a:solidFill>
                  <a:srgbClr val="FFFFFF"/>
                </a:solidFill>
                <a:latin typeface="Aptos"/>
              </a:rPr>
              <a:t>démo</a:t>
            </a:r>
            <a:r>
              <a:rPr sz="1400" dirty="0">
                <a:solidFill>
                  <a:srgbClr val="FFFFFF"/>
                </a:solidFill>
                <a:latin typeface="Aptos"/>
              </a:rPr>
              <a:t> locale et le service AWS.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4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7818120" y="5833872"/>
            <a:ext cx="4373575" cy="1024128"/>
          </a:xfrm>
          <a:custGeom>
            <a:avLst/>
            <a:gdLst/>
            <a:ahLst/>
            <a:cxnLst/>
            <a:rect l="l" t="t" r="r" b="b"/>
            <a:pathLst>
              <a:path w="4373575" h="1024128">
                <a:moveTo>
                  <a:pt x="0" y="1024128"/>
                </a:moveTo>
                <a:lnTo>
                  <a:pt x="4373575" y="0"/>
                </a:lnTo>
                <a:lnTo>
                  <a:pt x="4373575" y="1024128"/>
                </a:lnTo>
                <a:close/>
              </a:path>
            </a:pathLst>
          </a:custGeom>
          <a:solidFill>
            <a:srgbClr val="D21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96240" y="6327648"/>
            <a:ext cx="4389120" cy="15234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750" b="0" dirty="0">
                <a:solidFill>
                  <a:srgbClr val="DCDEEE"/>
                </a:solidFill>
                <a:latin typeface="Aptos"/>
              </a:rPr>
              <a:t>HEIG-VD CLD 2025/26 </a:t>
            </a:r>
            <a:r>
              <a:rPr lang="fr-CH" sz="750" dirty="0">
                <a:solidFill>
                  <a:srgbClr val="DCDEEE"/>
                </a:solidFill>
                <a:latin typeface="Aptos"/>
              </a:rPr>
              <a:t>- </a:t>
            </a:r>
            <a:r>
              <a:rPr sz="750" b="0" dirty="0">
                <a:solidFill>
                  <a:srgbClr val="DCDEEE"/>
                </a:solidFill>
                <a:latin typeface="Aptos"/>
              </a:rPr>
              <a:t>Amazon OpenSearch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281928"/>
            <a:ext cx="50292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21792"/>
            <a:ext cx="10515600" cy="56015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lang="fr-CH" sz="3400" b="1" dirty="0">
                <a:solidFill>
                  <a:srgbClr val="FFFFFF"/>
                </a:solidFill>
                <a:latin typeface="Aptos Display"/>
              </a:rPr>
              <a:t>C’est quoi </a:t>
            </a:r>
            <a:r>
              <a:rPr sz="3400" b="1" dirty="0">
                <a:solidFill>
                  <a:srgbClr val="FFFFFF"/>
                </a:solidFill>
                <a:latin typeface="Aptos Display"/>
              </a:rPr>
              <a:t>Amazon OpenSearch Service</a:t>
            </a:r>
            <a:r>
              <a:rPr lang="fr-CH" sz="3400" b="1" dirty="0">
                <a:solidFill>
                  <a:srgbClr val="FFFFFF"/>
                </a:solidFill>
                <a:latin typeface="Aptos Display"/>
              </a:rPr>
              <a:t> ?</a:t>
            </a:r>
            <a:endParaRPr sz="3400" b="1" dirty="0">
              <a:solidFill>
                <a:srgbClr val="FFFFFF"/>
              </a:solidFill>
              <a:latin typeface="Aptos Display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1274335"/>
            <a:ext cx="9784080" cy="22929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lang="fr-FR" sz="1250" dirty="0">
                <a:solidFill>
                  <a:srgbClr val="D5DAED"/>
                </a:solidFill>
                <a:latin typeface="Aptos"/>
              </a:rPr>
              <a:t>Moteur managé pour rechercher, analyser et visualiser des données en quasi temps réel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901952"/>
            <a:ext cx="2880360" cy="2148840"/>
          </a:xfrm>
          <a:prstGeom prst="rect">
            <a:avLst/>
          </a:prstGeom>
          <a:solidFill>
            <a:srgbClr val="312D73"/>
          </a:solidFill>
          <a:ln w="12700">
            <a:solidFill>
              <a:srgbClr val="565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9264" y="2194560"/>
            <a:ext cx="2258568" cy="31089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900" b="1">
                <a:solidFill>
                  <a:srgbClr val="FF9900"/>
                </a:solidFill>
                <a:latin typeface="Aptos"/>
              </a:rPr>
              <a:t>OpenSearch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7" y="2652543"/>
            <a:ext cx="2240280" cy="98847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>
              <a:spcAft>
                <a:spcPts val="700"/>
              </a:spcAft>
            </a:pPr>
            <a:r>
              <a:rPr sz="1400" dirty="0">
                <a:solidFill>
                  <a:srgbClr val="FFFFFF"/>
                </a:solidFill>
                <a:latin typeface="Aptos"/>
              </a:rPr>
              <a:t>Fork open-source </a:t>
            </a:r>
            <a:r>
              <a:rPr sz="1400" dirty="0" err="1">
                <a:solidFill>
                  <a:srgbClr val="FFFFFF"/>
                </a:solidFill>
                <a:latin typeface="Aptos"/>
              </a:rPr>
              <a:t>d’Elasticsearch</a:t>
            </a:r>
            <a:r>
              <a:rPr sz="1400" dirty="0">
                <a:solidFill>
                  <a:srgbClr val="FFFFFF"/>
                </a:solidFill>
                <a:latin typeface="Aptos"/>
              </a:rPr>
              <a:t>.</a:t>
            </a:r>
          </a:p>
          <a:p>
            <a:pPr>
              <a:spcAft>
                <a:spcPts val="700"/>
              </a:spcAft>
            </a:pPr>
            <a:r>
              <a:rPr sz="1400" dirty="0">
                <a:solidFill>
                  <a:srgbClr val="FFFFFF"/>
                </a:solidFill>
                <a:latin typeface="Aptos"/>
              </a:rPr>
              <a:t>Index, documents, champs et </a:t>
            </a:r>
            <a:r>
              <a:rPr sz="1400" dirty="0" err="1">
                <a:solidFill>
                  <a:srgbClr val="FFFFFF"/>
                </a:solidFill>
                <a:latin typeface="Aptos"/>
              </a:rPr>
              <a:t>requêtes</a:t>
            </a:r>
            <a:r>
              <a:rPr sz="1400" dirty="0">
                <a:solidFill>
                  <a:srgbClr val="FFFFFF"/>
                </a:solidFill>
                <a:latin typeface="Aptos"/>
              </a:rPr>
              <a:t>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93583" y="1897152"/>
            <a:ext cx="2880360" cy="2148840"/>
          </a:xfrm>
          <a:prstGeom prst="rect">
            <a:avLst/>
          </a:prstGeom>
          <a:solidFill>
            <a:srgbClr val="312D73"/>
          </a:solidFill>
          <a:ln w="12700">
            <a:solidFill>
              <a:srgbClr val="565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904479" y="2189760"/>
            <a:ext cx="2258568" cy="31089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900" b="1">
                <a:solidFill>
                  <a:srgbClr val="00AABE"/>
                </a:solidFill>
                <a:latin typeface="Aptos"/>
              </a:rPr>
              <a:t>Service managé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22766" y="2610384"/>
            <a:ext cx="2384195" cy="1293687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>
              <a:spcAft>
                <a:spcPts val="700"/>
              </a:spcAft>
            </a:pPr>
            <a:r>
              <a:rPr sz="1400" dirty="0">
                <a:solidFill>
                  <a:srgbClr val="FFFFFF"/>
                </a:solidFill>
                <a:latin typeface="Aptos"/>
              </a:rPr>
              <a:t>AWS </a:t>
            </a:r>
            <a:r>
              <a:rPr sz="1400" dirty="0" err="1">
                <a:solidFill>
                  <a:srgbClr val="FFFFFF"/>
                </a:solidFill>
                <a:latin typeface="Aptos"/>
              </a:rPr>
              <a:t>gère</a:t>
            </a:r>
            <a:r>
              <a:rPr sz="1400" dirty="0">
                <a:solidFill>
                  <a:srgbClr val="FFFFFF"/>
                </a:solidFill>
                <a:latin typeface="Aptos"/>
              </a:rPr>
              <a:t> provisioning, patching, backups et scaling.</a:t>
            </a:r>
          </a:p>
          <a:p>
            <a:pPr>
              <a:spcAft>
                <a:spcPts val="700"/>
              </a:spcAft>
            </a:pPr>
            <a:r>
              <a:rPr lang="fr-FR" sz="1400" dirty="0">
                <a:solidFill>
                  <a:srgbClr val="FFFFFF"/>
                </a:solidFill>
                <a:latin typeface="Aptos"/>
              </a:rPr>
              <a:t>2 Modes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>
                <a:solidFill>
                  <a:srgbClr val="FFFFFF"/>
                </a:solidFill>
                <a:latin typeface="Aptos"/>
              </a:rPr>
              <a:t>Cluster managé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>
                <a:solidFill>
                  <a:srgbClr val="FFFFFF"/>
                </a:solidFill>
                <a:latin typeface="Aptos"/>
              </a:rPr>
              <a:t> </a:t>
            </a:r>
            <a:r>
              <a:rPr lang="fr-FR" sz="1400" dirty="0" err="1">
                <a:solidFill>
                  <a:srgbClr val="FFFFFF"/>
                </a:solidFill>
                <a:latin typeface="Aptos"/>
              </a:rPr>
              <a:t>serverless</a:t>
            </a:r>
            <a:r>
              <a:rPr lang="fr-FR" sz="1400" dirty="0">
                <a:solidFill>
                  <a:srgbClr val="FFFFFF"/>
                </a:solidFill>
                <a:latin typeface="Aptos"/>
              </a:rPr>
              <a:t> collection.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42376" y="1891240"/>
            <a:ext cx="2880360" cy="2148840"/>
          </a:xfrm>
          <a:prstGeom prst="rect">
            <a:avLst/>
          </a:prstGeom>
          <a:solidFill>
            <a:srgbClr val="312D73"/>
          </a:solidFill>
          <a:ln w="12700">
            <a:solidFill>
              <a:srgbClr val="565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53272" y="2183848"/>
            <a:ext cx="2258568" cy="32932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lang="fr-CH" sz="1900" b="1" dirty="0">
                <a:solidFill>
                  <a:srgbClr val="54C484"/>
                </a:solidFill>
                <a:latin typeface="Aptos"/>
              </a:rPr>
              <a:t>Cas d’usage</a:t>
            </a:r>
            <a:endParaRPr sz="1900" b="1" dirty="0">
              <a:solidFill>
                <a:srgbClr val="54C484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662416" y="2663446"/>
            <a:ext cx="2240280" cy="86280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>
              <a:spcAft>
                <a:spcPts val="700"/>
              </a:spcAft>
            </a:pPr>
            <a:r>
              <a:rPr lang="fr-CH" sz="1400" dirty="0">
                <a:solidFill>
                  <a:srgbClr val="FFFFFF"/>
                </a:solidFill>
                <a:latin typeface="Aptos"/>
              </a:rPr>
              <a:t>Recherche </a:t>
            </a:r>
            <a:r>
              <a:rPr lang="fr-CH" sz="1400" dirty="0" err="1">
                <a:solidFill>
                  <a:srgbClr val="FFFFFF"/>
                </a:solidFill>
                <a:latin typeface="Aptos"/>
              </a:rPr>
              <a:t>aplicative</a:t>
            </a:r>
            <a:endParaRPr lang="fr-CH" sz="1400" dirty="0">
              <a:solidFill>
                <a:srgbClr val="FFFFFF"/>
              </a:solidFill>
              <a:latin typeface="Aptos"/>
            </a:endParaRPr>
          </a:p>
          <a:p>
            <a:pPr>
              <a:spcAft>
                <a:spcPts val="700"/>
              </a:spcAft>
            </a:pPr>
            <a:r>
              <a:rPr lang="fr-CH" sz="1400" dirty="0">
                <a:solidFill>
                  <a:srgbClr val="FFFFFF"/>
                </a:solidFill>
                <a:latin typeface="Aptos"/>
              </a:rPr>
              <a:t>Analyse de logs</a:t>
            </a:r>
          </a:p>
          <a:p>
            <a:pPr>
              <a:spcAft>
                <a:spcPts val="700"/>
              </a:spcAft>
            </a:pPr>
            <a:r>
              <a:rPr lang="fr-CH" sz="1400" dirty="0" err="1">
                <a:solidFill>
                  <a:srgbClr val="FFFFFF"/>
                </a:solidFill>
                <a:latin typeface="Aptos"/>
              </a:rPr>
              <a:t>Dashboards</a:t>
            </a:r>
            <a:r>
              <a:rPr lang="fr-CH" sz="1400" dirty="0">
                <a:solidFill>
                  <a:srgbClr val="FFFFFF"/>
                </a:solidFill>
                <a:latin typeface="Aptos"/>
              </a:rPr>
              <a:t> et alertes</a:t>
            </a:r>
            <a:endParaRPr sz="1400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822960" y="4773168"/>
            <a:ext cx="2404872" cy="658368"/>
          </a:xfrm>
          <a:prstGeom prst="rect">
            <a:avLst/>
          </a:prstGeom>
          <a:solidFill>
            <a:srgbClr val="312D73"/>
          </a:solidFill>
          <a:ln w="12700">
            <a:solidFill>
              <a:srgbClr val="565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130690" y="4773168"/>
            <a:ext cx="2011680" cy="658368"/>
          </a:xfrm>
          <a:prstGeom prst="rect">
            <a:avLst/>
          </a:prstGeom>
          <a:solidFill>
            <a:srgbClr val="312D73"/>
          </a:solidFill>
          <a:ln w="12700">
            <a:solidFill>
              <a:srgbClr val="565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053219" y="4787893"/>
            <a:ext cx="2011680" cy="658368"/>
          </a:xfrm>
          <a:prstGeom prst="rect">
            <a:avLst/>
          </a:prstGeom>
          <a:solidFill>
            <a:srgbClr val="312D73"/>
          </a:solidFill>
          <a:ln w="12700">
            <a:solidFill>
              <a:srgbClr val="565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84339" y="4954730"/>
            <a:ext cx="2011680" cy="22929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1250" b="1" dirty="0">
                <a:solidFill>
                  <a:srgbClr val="FFFFFF"/>
                </a:solidFill>
                <a:latin typeface="Aptos"/>
              </a:rPr>
              <a:t>Logs app</a:t>
            </a:r>
            <a:r>
              <a:rPr lang="fr-CH" sz="1250" b="1" dirty="0">
                <a:solidFill>
                  <a:srgbClr val="FFFFFF"/>
                </a:solidFill>
                <a:latin typeface="Aptos"/>
              </a:rPr>
              <a:t> / métrique / </a:t>
            </a:r>
            <a:r>
              <a:rPr lang="fr-CH" sz="1250" b="1" dirty="0" err="1">
                <a:solidFill>
                  <a:srgbClr val="FFFFFF"/>
                </a:solidFill>
                <a:latin typeface="Aptos"/>
              </a:rPr>
              <a:t>json</a:t>
            </a:r>
            <a:endParaRPr sz="1250" b="1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130690" y="4891525"/>
            <a:ext cx="2011680" cy="42165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lang="fr-CH" sz="1250" b="1" dirty="0">
                <a:solidFill>
                  <a:srgbClr val="FFFFFF"/>
                </a:solidFill>
                <a:latin typeface="Aptos"/>
              </a:rPr>
              <a:t>Amazone </a:t>
            </a:r>
            <a:r>
              <a:rPr lang="fr-CH" sz="1250" b="1" dirty="0" err="1">
                <a:solidFill>
                  <a:srgbClr val="FFFFFF"/>
                </a:solidFill>
                <a:latin typeface="Aptos"/>
              </a:rPr>
              <a:t>OpenSearch</a:t>
            </a:r>
            <a:r>
              <a:rPr lang="fr-CH" sz="1250" b="1" dirty="0">
                <a:solidFill>
                  <a:srgbClr val="FFFFFF"/>
                </a:solidFill>
                <a:latin typeface="Aptos"/>
              </a:rPr>
              <a:t> Service</a:t>
            </a:r>
            <a:endParaRPr sz="1250" b="1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196640" y="4906250"/>
            <a:ext cx="1664208" cy="42165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lang="fr-CH" sz="1250" b="1" dirty="0">
                <a:solidFill>
                  <a:srgbClr val="FFFFFF"/>
                </a:solidFill>
                <a:latin typeface="Aptos"/>
              </a:rPr>
              <a:t>Recherche  </a:t>
            </a:r>
            <a:r>
              <a:rPr sz="1250" b="1" dirty="0">
                <a:solidFill>
                  <a:srgbClr val="FFFFFF"/>
                </a:solidFill>
                <a:latin typeface="Aptos"/>
              </a:rPr>
              <a:t>Dashboards</a:t>
            </a:r>
            <a:r>
              <a:rPr lang="fr-CH" sz="1250" b="1" dirty="0">
                <a:solidFill>
                  <a:srgbClr val="FFFFFF"/>
                </a:solidFill>
                <a:latin typeface="Aptos"/>
              </a:rPr>
              <a:t> / </a:t>
            </a:r>
            <a:r>
              <a:rPr lang="fr-CH" sz="1250" b="1" dirty="0" err="1">
                <a:solidFill>
                  <a:srgbClr val="FFFFFF"/>
                </a:solidFill>
                <a:latin typeface="Aptos"/>
              </a:rPr>
              <a:t>Alerts</a:t>
            </a:r>
            <a:endParaRPr sz="1250" b="1" dirty="0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32" name="Connecteur droit avec flèche 31">
            <a:extLst>
              <a:ext uri="{FF2B5EF4-FFF2-40B4-BE49-F238E27FC236}">
                <a16:creationId xmlns:a16="http://schemas.microsoft.com/office/drawing/2014/main" id="{297B6B4D-F241-1E40-0ABE-E2C00C8AB5A1}"/>
              </a:ext>
            </a:extLst>
          </p:cNvPr>
          <p:cNvCxnSpPr>
            <a:cxnSpLocks/>
            <a:stCxn id="18" idx="3"/>
          </p:cNvCxnSpPr>
          <p:nvPr/>
        </p:nvCxnSpPr>
        <p:spPr>
          <a:xfrm>
            <a:off x="3227832" y="5102352"/>
            <a:ext cx="1902858" cy="0"/>
          </a:xfrm>
          <a:prstGeom prst="straightConnector1">
            <a:avLst/>
          </a:prstGeom>
          <a:ln>
            <a:solidFill>
              <a:srgbClr val="7030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eur droit avec flèche 35">
            <a:extLst>
              <a:ext uri="{FF2B5EF4-FFF2-40B4-BE49-F238E27FC236}">
                <a16:creationId xmlns:a16="http://schemas.microsoft.com/office/drawing/2014/main" id="{FC8DDD51-1CE4-0F99-366A-495CC0DA1037}"/>
              </a:ext>
            </a:extLst>
          </p:cNvPr>
          <p:cNvCxnSpPr>
            <a:cxnSpLocks/>
          </p:cNvCxnSpPr>
          <p:nvPr/>
        </p:nvCxnSpPr>
        <p:spPr>
          <a:xfrm>
            <a:off x="7142370" y="5082884"/>
            <a:ext cx="1902858" cy="0"/>
          </a:xfrm>
          <a:prstGeom prst="straightConnector1">
            <a:avLst/>
          </a:prstGeom>
          <a:ln>
            <a:solidFill>
              <a:srgbClr val="7030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4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7818120" y="5833872"/>
            <a:ext cx="4373575" cy="1024128"/>
          </a:xfrm>
          <a:custGeom>
            <a:avLst/>
            <a:gdLst/>
            <a:ahLst/>
            <a:cxnLst/>
            <a:rect l="l" t="t" r="r" b="b"/>
            <a:pathLst>
              <a:path w="4373575" h="1024128">
                <a:moveTo>
                  <a:pt x="0" y="1024128"/>
                </a:moveTo>
                <a:lnTo>
                  <a:pt x="4373575" y="0"/>
                </a:lnTo>
                <a:lnTo>
                  <a:pt x="4373575" y="1024128"/>
                </a:lnTo>
                <a:close/>
              </a:path>
            </a:pathLst>
          </a:custGeom>
          <a:solidFill>
            <a:srgbClr val="D21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96240" y="6345936"/>
            <a:ext cx="4389120" cy="14630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750" b="0">
                <a:solidFill>
                  <a:srgbClr val="DCDEEE"/>
                </a:solidFill>
                <a:latin typeface="Aptos"/>
              </a:rPr>
              <a:t>HEIG-VD CLD 2025/26 · Amazon OpenSearch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281928"/>
            <a:ext cx="50292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21792"/>
            <a:ext cx="10515600" cy="6583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ptos Display"/>
              </a:rPr>
              <a:t>Bénéfices et limites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" y="1307592"/>
            <a:ext cx="9784080" cy="22929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50" b="0" dirty="0">
                <a:solidFill>
                  <a:srgbClr val="D5DAED"/>
                </a:solidFill>
                <a:latin typeface="Aptos"/>
              </a:rPr>
              <a:t>OpenSearch </a:t>
            </a:r>
            <a:r>
              <a:rPr sz="1250" b="0" dirty="0" err="1">
                <a:solidFill>
                  <a:srgbClr val="D5DAED"/>
                </a:solidFill>
                <a:latin typeface="Aptos"/>
              </a:rPr>
              <a:t>est</a:t>
            </a:r>
            <a:r>
              <a:rPr lang="fr-FR" sz="1250" b="0" dirty="0">
                <a:solidFill>
                  <a:srgbClr val="D5DAED"/>
                </a:solidFill>
                <a:latin typeface="Aptos"/>
              </a:rPr>
              <a:t> puissant, mais nécessite un bon dimensionnement</a:t>
            </a:r>
            <a:endParaRPr sz="1250" b="0" dirty="0">
              <a:solidFill>
                <a:srgbClr val="D5DAED"/>
              </a:solidFill>
              <a:latin typeface="Apto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13232" y="1847088"/>
            <a:ext cx="4983480" cy="3474720"/>
          </a:xfrm>
          <a:prstGeom prst="rect">
            <a:avLst/>
          </a:prstGeom>
          <a:solidFill>
            <a:srgbClr val="312D73"/>
          </a:solidFill>
          <a:ln w="12700">
            <a:solidFill>
              <a:srgbClr val="565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24128" y="2139696"/>
            <a:ext cx="4361688" cy="31089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900" b="1">
                <a:solidFill>
                  <a:srgbClr val="54C484"/>
                </a:solidFill>
                <a:latin typeface="Aptos"/>
              </a:rPr>
              <a:t>Bénéfices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1" y="2807208"/>
            <a:ext cx="4343400" cy="235915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>
              <a:spcAft>
                <a:spcPts val="700"/>
              </a:spcAft>
            </a:pPr>
            <a:r>
              <a:rPr sz="1320">
                <a:solidFill>
                  <a:srgbClr val="FFFFFF"/>
                </a:solidFill>
                <a:latin typeface="Aptos"/>
              </a:rPr>
              <a:t>Recherche full-text rapide sur de grands volumes.</a:t>
            </a:r>
          </a:p>
          <a:p>
            <a:pPr>
              <a:spcAft>
                <a:spcPts val="700"/>
              </a:spcAft>
            </a:pPr>
            <a:r>
              <a:rPr sz="1320">
                <a:solidFill>
                  <a:srgbClr val="FFFFFF"/>
                </a:solidFill>
                <a:latin typeface="Aptos"/>
              </a:rPr>
              <a:t>Observabilité centralisée multi-services.</a:t>
            </a:r>
          </a:p>
          <a:p>
            <a:pPr>
              <a:spcAft>
                <a:spcPts val="700"/>
              </a:spcAft>
            </a:pPr>
            <a:r>
              <a:rPr sz="1320">
                <a:solidFill>
                  <a:srgbClr val="FFFFFF"/>
                </a:solidFill>
                <a:latin typeface="Aptos"/>
              </a:rPr>
              <a:t>Dashboards et alertes intégrés.</a:t>
            </a:r>
          </a:p>
          <a:p>
            <a:pPr>
              <a:spcAft>
                <a:spcPts val="700"/>
              </a:spcAft>
            </a:pPr>
            <a:r>
              <a:rPr sz="1320">
                <a:solidFill>
                  <a:srgbClr val="FFFFFF"/>
                </a:solidFill>
                <a:latin typeface="Aptos"/>
              </a:rPr>
              <a:t>Intégrations AWS: CloudWatch, S3, Kinesis, Lambda.</a:t>
            </a:r>
          </a:p>
          <a:p>
            <a:pPr>
              <a:spcAft>
                <a:spcPts val="700"/>
              </a:spcAft>
            </a:pPr>
            <a:r>
              <a:rPr sz="1320">
                <a:solidFill>
                  <a:srgbClr val="FFFFFF"/>
                </a:solidFill>
                <a:latin typeface="Aptos"/>
              </a:rPr>
              <a:t>Sécurité: chiffrement, VPC, contrôle d’accès fin.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37376" y="1847088"/>
            <a:ext cx="4983480" cy="3474720"/>
          </a:xfrm>
          <a:prstGeom prst="rect">
            <a:avLst/>
          </a:prstGeom>
          <a:solidFill>
            <a:srgbClr val="312D73"/>
          </a:solidFill>
          <a:ln w="12700">
            <a:solidFill>
              <a:srgbClr val="565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48272" y="2139696"/>
            <a:ext cx="4361688" cy="31089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900" b="1">
                <a:solidFill>
                  <a:srgbClr val="EC5B60"/>
                </a:solidFill>
                <a:latin typeface="Aptos"/>
              </a:rPr>
              <a:t>Limites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57416" y="2807208"/>
            <a:ext cx="4343400" cy="235915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>
              <a:spcAft>
                <a:spcPts val="700"/>
              </a:spcAft>
            </a:pPr>
            <a:r>
              <a:rPr sz="1320">
                <a:solidFill>
                  <a:srgbClr val="FFFFFF"/>
                </a:solidFill>
                <a:latin typeface="Aptos"/>
              </a:rPr>
              <a:t>Dimensionnement complexe: instances, RAM, shards.</a:t>
            </a:r>
          </a:p>
          <a:p>
            <a:pPr>
              <a:spcAft>
                <a:spcPts val="700"/>
              </a:spcAft>
            </a:pPr>
            <a:r>
              <a:rPr sz="1320">
                <a:solidFill>
                  <a:srgbClr val="FFFFFF"/>
                </a:solidFill>
                <a:latin typeface="Aptos"/>
              </a:rPr>
              <a:t>Coût lié au volume et à la rétention.</a:t>
            </a:r>
          </a:p>
          <a:p>
            <a:pPr>
              <a:spcAft>
                <a:spcPts val="700"/>
              </a:spcAft>
            </a:pPr>
            <a:r>
              <a:rPr sz="1320">
                <a:solidFill>
                  <a:srgbClr val="FFFFFF"/>
                </a:solidFill>
                <a:latin typeface="Aptos"/>
              </a:rPr>
              <a:t>Pas une base relationnelle: pas de joins ni transactions.</a:t>
            </a:r>
          </a:p>
          <a:p>
            <a:pPr>
              <a:spcAft>
                <a:spcPts val="700"/>
              </a:spcAft>
            </a:pPr>
            <a:r>
              <a:rPr sz="1320">
                <a:solidFill>
                  <a:srgbClr val="FFFFFF"/>
                </a:solidFill>
                <a:latin typeface="Aptos"/>
              </a:rPr>
              <a:t>Monitoring et tuning restent nécessaires.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4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7818120" y="5833872"/>
            <a:ext cx="4373575" cy="1024128"/>
          </a:xfrm>
          <a:custGeom>
            <a:avLst/>
            <a:gdLst/>
            <a:ahLst/>
            <a:cxnLst/>
            <a:rect l="l" t="t" r="r" b="b"/>
            <a:pathLst>
              <a:path w="4373575" h="1024128">
                <a:moveTo>
                  <a:pt x="0" y="1024128"/>
                </a:moveTo>
                <a:lnTo>
                  <a:pt x="4373575" y="0"/>
                </a:lnTo>
                <a:lnTo>
                  <a:pt x="4373575" y="1024128"/>
                </a:lnTo>
                <a:close/>
              </a:path>
            </a:pathLst>
          </a:custGeom>
          <a:solidFill>
            <a:srgbClr val="D21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02336" y="6301205"/>
            <a:ext cx="4389120" cy="14630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750" b="0">
                <a:solidFill>
                  <a:srgbClr val="DCDEEE"/>
                </a:solidFill>
                <a:latin typeface="Aptos"/>
              </a:rPr>
              <a:t>HEIG-VD CLD 2025/26 · Amazon OpenSearch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281928"/>
            <a:ext cx="50292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21792"/>
            <a:ext cx="10515600" cy="6583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ptos Display"/>
              </a:rPr>
              <a:t>Coût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" y="1307592"/>
            <a:ext cx="978408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50" b="0">
                <a:solidFill>
                  <a:srgbClr val="D5DAED"/>
                </a:solidFill>
                <a:latin typeface="Aptos"/>
              </a:rPr>
              <a:t>Scénario PME: 5 GB/jour, 30 jours de rétention, région EU Zurich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847088"/>
            <a:ext cx="2103120" cy="4389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700" b="1">
                <a:solidFill>
                  <a:srgbClr val="00AABE"/>
                </a:solidFill>
                <a:latin typeface="Aptos Display"/>
              </a:rPr>
              <a:t>5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350008"/>
            <a:ext cx="2194560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0">
                <a:solidFill>
                  <a:srgbClr val="D5DAED"/>
                </a:solidFill>
                <a:latin typeface="Aptos"/>
              </a:rPr>
              <a:t>logs par jour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1847088"/>
            <a:ext cx="2103120" cy="4389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700" b="1">
                <a:solidFill>
                  <a:srgbClr val="FF9900"/>
                </a:solidFill>
                <a:latin typeface="Aptos Display"/>
              </a:rPr>
              <a:t>30 j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96896" y="2350008"/>
            <a:ext cx="2194560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0">
                <a:solidFill>
                  <a:srgbClr val="D5DAED"/>
                </a:solidFill>
                <a:latin typeface="Aptos"/>
              </a:rPr>
              <a:t>rétention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1847088"/>
            <a:ext cx="2103120" cy="4389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700" b="1">
                <a:solidFill>
                  <a:srgbClr val="54C484"/>
                </a:solidFill>
                <a:latin typeface="Aptos Display"/>
              </a:rPr>
              <a:t>168 CHF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79976" y="2350008"/>
            <a:ext cx="2194560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0">
                <a:solidFill>
                  <a:srgbClr val="D5DAED"/>
                </a:solidFill>
                <a:latin typeface="Aptos"/>
              </a:rPr>
              <a:t>configuration retenue / mois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39712" y="1783080"/>
            <a:ext cx="4434840" cy="1243584"/>
          </a:xfrm>
          <a:prstGeom prst="rect">
            <a:avLst/>
          </a:prstGeom>
          <a:solidFill>
            <a:srgbClr val="312D73"/>
          </a:solidFill>
          <a:ln w="12700">
            <a:solidFill>
              <a:srgbClr val="565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150608" y="1956816"/>
            <a:ext cx="3749039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800" b="1" dirty="0">
                <a:solidFill>
                  <a:srgbClr val="FF9900"/>
                </a:solidFill>
                <a:latin typeface="Aptos"/>
              </a:rPr>
              <a:t>Choix </a:t>
            </a:r>
            <a:r>
              <a:rPr sz="1800" b="1" dirty="0" err="1">
                <a:solidFill>
                  <a:srgbClr val="FF9900"/>
                </a:solidFill>
                <a:latin typeface="Aptos"/>
              </a:rPr>
              <a:t>retenu</a:t>
            </a:r>
            <a:endParaRPr sz="1800" b="1" dirty="0">
              <a:solidFill>
                <a:srgbClr val="FF9900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168896" y="2450592"/>
            <a:ext cx="3749039" cy="43891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250" dirty="0">
                <a:solidFill>
                  <a:srgbClr val="FFFFFF"/>
                </a:solidFill>
                <a:latin typeface="Aptos"/>
              </a:rPr>
              <a:t>2x t3.medium.search + 2x 150 GB gp3 = $186.52/</a:t>
            </a:r>
            <a:r>
              <a:rPr sz="1250" dirty="0" err="1">
                <a:solidFill>
                  <a:srgbClr val="FFFFFF"/>
                </a:solidFill>
                <a:latin typeface="Aptos"/>
              </a:rPr>
              <a:t>mois</a:t>
            </a:r>
            <a:endParaRPr sz="1250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14400" y="3767328"/>
            <a:ext cx="164592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t3.small.search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0" y="3794760"/>
            <a:ext cx="5120640" cy="201168"/>
          </a:xfrm>
          <a:prstGeom prst="rect">
            <a:avLst/>
          </a:prstGeom>
          <a:solidFill>
            <a:srgbClr val="1F1E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743200" y="3794760"/>
            <a:ext cx="870508" cy="201168"/>
          </a:xfrm>
          <a:prstGeom prst="rect">
            <a:avLst/>
          </a:prstGeom>
          <a:solidFill>
            <a:srgbClr val="00AA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92440" y="3767328"/>
            <a:ext cx="86868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$119/mo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343400"/>
            <a:ext cx="164592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t3.medium.search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0" y="4370832"/>
            <a:ext cx="5120640" cy="201168"/>
          </a:xfrm>
          <a:prstGeom prst="rect">
            <a:avLst/>
          </a:prstGeom>
          <a:solidFill>
            <a:srgbClr val="1F1E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2743200" y="4370832"/>
            <a:ext cx="1367942" cy="201168"/>
          </a:xfrm>
          <a:prstGeom prst="rect">
            <a:avLst/>
          </a:prstGeom>
          <a:solidFill>
            <a:srgbClr val="54C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92440" y="4343400"/>
            <a:ext cx="86868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$187/mo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919472"/>
            <a:ext cx="164592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Serverless min.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0" y="4946904"/>
            <a:ext cx="5120640" cy="201168"/>
          </a:xfrm>
          <a:prstGeom prst="rect">
            <a:avLst/>
          </a:prstGeom>
          <a:solidFill>
            <a:srgbClr val="1F1E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2743200" y="4946904"/>
            <a:ext cx="5120640" cy="201168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092440" y="4919472"/>
            <a:ext cx="86868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$700/mo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5632704"/>
            <a:ext cx="923544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50" b="0">
                <a:solidFill>
                  <a:srgbClr val="D5DAED"/>
                </a:solidFill>
                <a:latin typeface="Aptos"/>
              </a:rPr>
              <a:t>Production HA: environ $600-900/mois. Les facteurs majeurs sont rétention, nœuds, stockage et réplicas.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2"/>
          <p:cNvSpPr/>
          <p:nvPr/>
        </p:nvSpPr>
        <p:spPr>
          <a:xfrm>
            <a:off x="7818120" y="5833872"/>
            <a:ext cx="4373575" cy="1024128"/>
          </a:xfrm>
          <a:custGeom>
            <a:avLst/>
            <a:gdLst/>
            <a:ahLst/>
            <a:cxnLst/>
            <a:rect l="l" t="t" r="r" b="b"/>
            <a:pathLst>
              <a:path w="4373575" h="1024128">
                <a:moveTo>
                  <a:pt x="0" y="1024128"/>
                </a:moveTo>
                <a:lnTo>
                  <a:pt x="4373575" y="0"/>
                </a:lnTo>
                <a:lnTo>
                  <a:pt x="4373575" y="1024128"/>
                </a:lnTo>
                <a:close/>
              </a:path>
            </a:pathLst>
          </a:custGeom>
          <a:solidFill>
            <a:srgbClr val="D21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96240" y="6181344"/>
            <a:ext cx="4389120" cy="15234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750" b="0" dirty="0">
                <a:solidFill>
                  <a:srgbClr val="555F70"/>
                </a:solidFill>
                <a:latin typeface="Aptos"/>
              </a:rPr>
              <a:t>HEIG-VD CLD 2025/26 </a:t>
            </a:r>
            <a:r>
              <a:rPr lang="fr-CH" sz="750" b="0" dirty="0">
                <a:solidFill>
                  <a:srgbClr val="555F70"/>
                </a:solidFill>
                <a:latin typeface="Aptos"/>
              </a:rPr>
              <a:t>-</a:t>
            </a:r>
            <a:r>
              <a:rPr sz="750" b="0" dirty="0">
                <a:solidFill>
                  <a:srgbClr val="555F70"/>
                </a:solidFill>
                <a:latin typeface="Aptos"/>
              </a:rPr>
              <a:t> Amazon OpenSearch Service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281928"/>
            <a:ext cx="50292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1000" b="0">
                <a:solidFill>
                  <a:srgbClr val="212D3C"/>
                </a:solidFill>
                <a:latin typeface="Aptos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86384"/>
            <a:ext cx="6492240" cy="53035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3200" b="1">
                <a:solidFill>
                  <a:srgbClr val="212D3C"/>
                </a:solidFill>
                <a:latin typeface="Aptos Display"/>
              </a:rPr>
              <a:t>Vendor lock-in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1389888"/>
            <a:ext cx="6766560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50" b="0">
                <a:solidFill>
                  <a:srgbClr val="555F70"/>
                </a:solidFill>
                <a:latin typeface="Aptos"/>
              </a:rPr>
              <a:t>OpenSearch est open-source, mais le service managé reste intégré à AWS.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6" y="2048256"/>
            <a:ext cx="3383281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58368" y="2048256"/>
            <a:ext cx="88742" cy="2121408"/>
          </a:xfrm>
          <a:prstGeom prst="rect">
            <a:avLst/>
          </a:prstGeom>
          <a:solidFill>
            <a:srgbClr val="54C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32688" y="2304288"/>
            <a:ext cx="2717716" cy="3139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800" b="1">
                <a:solidFill>
                  <a:srgbClr val="212D3C"/>
                </a:solidFill>
                <a:latin typeface="Aptos"/>
              </a:rPr>
              <a:t>Ce qui reste portable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2798064"/>
            <a:ext cx="2695530" cy="914609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>
              <a:spcAft>
                <a:spcPts val="700"/>
              </a:spcAft>
            </a:pPr>
            <a:r>
              <a:rPr sz="1280" dirty="0">
                <a:solidFill>
                  <a:srgbClr val="555F70"/>
                </a:solidFill>
                <a:latin typeface="Aptos"/>
              </a:rPr>
              <a:t>OpenSearch </a:t>
            </a:r>
            <a:r>
              <a:rPr sz="1280" dirty="0" err="1">
                <a:solidFill>
                  <a:srgbClr val="555F70"/>
                </a:solidFill>
                <a:latin typeface="Aptos"/>
              </a:rPr>
              <a:t>est</a:t>
            </a:r>
            <a:r>
              <a:rPr sz="1280" dirty="0">
                <a:solidFill>
                  <a:srgbClr val="555F70"/>
                </a:solidFill>
                <a:latin typeface="Aptos"/>
              </a:rPr>
              <a:t> sous </a:t>
            </a:r>
            <a:r>
              <a:rPr sz="1280" dirty="0" err="1">
                <a:solidFill>
                  <a:srgbClr val="555F70"/>
                </a:solidFill>
                <a:latin typeface="Aptos"/>
              </a:rPr>
              <a:t>licence</a:t>
            </a:r>
            <a:r>
              <a:rPr sz="1280" dirty="0">
                <a:solidFill>
                  <a:srgbClr val="555F70"/>
                </a:solidFill>
                <a:latin typeface="Aptos"/>
              </a:rPr>
              <a:t> Apache 2.0.</a:t>
            </a:r>
          </a:p>
          <a:p>
            <a:pPr>
              <a:spcAft>
                <a:spcPts val="700"/>
              </a:spcAft>
            </a:pPr>
            <a:r>
              <a:rPr sz="1280" dirty="0">
                <a:solidFill>
                  <a:srgbClr val="555F70"/>
                </a:solidFill>
                <a:latin typeface="Aptos"/>
              </a:rPr>
              <a:t>Concepts et API </a:t>
            </a:r>
            <a:r>
              <a:rPr sz="1280" dirty="0" err="1">
                <a:solidFill>
                  <a:srgbClr val="555F70"/>
                </a:solidFill>
                <a:latin typeface="Aptos"/>
              </a:rPr>
              <a:t>peuvent</a:t>
            </a:r>
            <a:r>
              <a:rPr sz="1280" dirty="0">
                <a:solidFill>
                  <a:srgbClr val="555F70"/>
                </a:solidFill>
                <a:latin typeface="Aptos"/>
              </a:rPr>
              <a:t> </a:t>
            </a:r>
            <a:r>
              <a:rPr sz="1280" dirty="0" err="1">
                <a:solidFill>
                  <a:srgbClr val="555F70"/>
                </a:solidFill>
                <a:latin typeface="Aptos"/>
              </a:rPr>
              <a:t>être</a:t>
            </a:r>
            <a:r>
              <a:rPr sz="1280" dirty="0">
                <a:solidFill>
                  <a:srgbClr val="555F70"/>
                </a:solidFill>
                <a:latin typeface="Aptos"/>
              </a:rPr>
              <a:t> </a:t>
            </a:r>
            <a:r>
              <a:rPr sz="1280" dirty="0" err="1">
                <a:solidFill>
                  <a:srgbClr val="555F70"/>
                </a:solidFill>
                <a:latin typeface="Aptos"/>
              </a:rPr>
              <a:t>réutilisés</a:t>
            </a:r>
            <a:r>
              <a:rPr sz="1280" dirty="0">
                <a:solidFill>
                  <a:srgbClr val="555F70"/>
                </a:solidFill>
                <a:latin typeface="Aptos"/>
              </a:rPr>
              <a:t> </a:t>
            </a:r>
            <a:r>
              <a:rPr sz="1280" dirty="0" err="1">
                <a:solidFill>
                  <a:srgbClr val="555F70"/>
                </a:solidFill>
                <a:latin typeface="Aptos"/>
              </a:rPr>
              <a:t>ailleurs</a:t>
            </a:r>
            <a:r>
              <a:rPr sz="1280" dirty="0">
                <a:solidFill>
                  <a:srgbClr val="555F70"/>
                </a:solidFill>
                <a:latin typeface="Aptos"/>
              </a:rPr>
              <a:t>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25277" y="2052828"/>
            <a:ext cx="3256129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625277" y="2052828"/>
            <a:ext cx="85407" cy="2121408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899598" y="2308860"/>
            <a:ext cx="2615578" cy="3139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800" b="1" dirty="0">
                <a:solidFill>
                  <a:srgbClr val="212D3C"/>
                </a:solidFill>
                <a:latin typeface="Aptos"/>
              </a:rPr>
              <a:t>Ce qui </a:t>
            </a:r>
            <a:r>
              <a:rPr sz="1800" b="1" dirty="0" err="1">
                <a:solidFill>
                  <a:srgbClr val="212D3C"/>
                </a:solidFill>
                <a:latin typeface="Aptos"/>
              </a:rPr>
              <a:t>attache</a:t>
            </a:r>
            <a:r>
              <a:rPr sz="1800" b="1" dirty="0">
                <a:solidFill>
                  <a:srgbClr val="212D3C"/>
                </a:solidFill>
                <a:latin typeface="Aptos"/>
              </a:rPr>
              <a:t> à AWS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17886" y="2802636"/>
            <a:ext cx="2594226" cy="71763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>
              <a:spcAft>
                <a:spcPts val="700"/>
              </a:spcAft>
            </a:pPr>
            <a:r>
              <a:rPr sz="1280" dirty="0">
                <a:solidFill>
                  <a:srgbClr val="555F70"/>
                </a:solidFill>
                <a:latin typeface="Aptos"/>
              </a:rPr>
              <a:t>IAM, VPC, CloudWatch, Kinesis.</a:t>
            </a:r>
          </a:p>
          <a:p>
            <a:pPr>
              <a:spcAft>
                <a:spcPts val="700"/>
              </a:spcAft>
            </a:pPr>
            <a:r>
              <a:rPr sz="1280" dirty="0" err="1">
                <a:solidFill>
                  <a:srgbClr val="555F70"/>
                </a:solidFill>
                <a:latin typeface="Aptos"/>
              </a:rPr>
              <a:t>Ces</a:t>
            </a:r>
            <a:r>
              <a:rPr sz="1280" dirty="0">
                <a:solidFill>
                  <a:srgbClr val="555F70"/>
                </a:solidFill>
                <a:latin typeface="Aptos"/>
              </a:rPr>
              <a:t> </a:t>
            </a:r>
            <a:r>
              <a:rPr sz="1280" dirty="0" err="1">
                <a:solidFill>
                  <a:srgbClr val="555F70"/>
                </a:solidFill>
                <a:latin typeface="Aptos"/>
              </a:rPr>
              <a:t>intégrations</a:t>
            </a:r>
            <a:r>
              <a:rPr sz="1280" dirty="0">
                <a:solidFill>
                  <a:srgbClr val="555F70"/>
                </a:solidFill>
                <a:latin typeface="Aptos"/>
              </a:rPr>
              <a:t> </a:t>
            </a:r>
            <a:r>
              <a:rPr sz="1280" dirty="0" err="1">
                <a:solidFill>
                  <a:srgbClr val="555F70"/>
                </a:solidFill>
                <a:latin typeface="Aptos"/>
              </a:rPr>
              <a:t>réduisent</a:t>
            </a:r>
            <a:r>
              <a:rPr sz="1280" dirty="0">
                <a:solidFill>
                  <a:srgbClr val="555F70"/>
                </a:solidFill>
                <a:latin typeface="Aptos"/>
              </a:rPr>
              <a:t> </a:t>
            </a:r>
            <a:r>
              <a:rPr sz="1280" dirty="0" err="1">
                <a:solidFill>
                  <a:srgbClr val="555F70"/>
                </a:solidFill>
                <a:latin typeface="Aptos"/>
              </a:rPr>
              <a:t>l’effort</a:t>
            </a:r>
            <a:r>
              <a:rPr sz="1280" dirty="0">
                <a:solidFill>
                  <a:srgbClr val="555F70"/>
                </a:solidFill>
                <a:latin typeface="Aptos"/>
              </a:rPr>
              <a:t> </a:t>
            </a:r>
            <a:r>
              <a:rPr sz="1280" dirty="0" err="1">
                <a:solidFill>
                  <a:srgbClr val="555F70"/>
                </a:solidFill>
                <a:latin typeface="Aptos"/>
              </a:rPr>
              <a:t>opérationnel</a:t>
            </a:r>
            <a:r>
              <a:rPr sz="1280" dirty="0">
                <a:solidFill>
                  <a:srgbClr val="555F70"/>
                </a:solidFill>
                <a:latin typeface="Aptos"/>
              </a:rPr>
              <a:t>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94199" y="2048256"/>
            <a:ext cx="2772266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19" name="Rectangle 18"/>
          <p:cNvSpPr/>
          <p:nvPr/>
        </p:nvSpPr>
        <p:spPr>
          <a:xfrm>
            <a:off x="8465037" y="2048256"/>
            <a:ext cx="73152" cy="2121408"/>
          </a:xfrm>
          <a:prstGeom prst="rect">
            <a:avLst/>
          </a:prstGeom>
          <a:solidFill>
            <a:srgbClr val="EC5B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0" name="TextBox 19"/>
          <p:cNvSpPr txBox="1"/>
          <p:nvPr/>
        </p:nvSpPr>
        <p:spPr>
          <a:xfrm>
            <a:off x="8739357" y="2304288"/>
            <a:ext cx="1847088" cy="3139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800" b="1">
                <a:solidFill>
                  <a:srgbClr val="212D3C"/>
                </a:solidFill>
                <a:latin typeface="Aptos"/>
              </a:rPr>
              <a:t>Ce qui coûte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57645" y="2798064"/>
            <a:ext cx="2223394" cy="71763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>
              <a:spcAft>
                <a:spcPts val="700"/>
              </a:spcAft>
            </a:pPr>
            <a:r>
              <a:rPr sz="1280" b="1" dirty="0">
                <a:solidFill>
                  <a:srgbClr val="555F70"/>
                </a:solidFill>
                <a:latin typeface="Aptos"/>
              </a:rPr>
              <a:t>Export, re-indexation.</a:t>
            </a:r>
          </a:p>
          <a:p>
            <a:pPr>
              <a:spcAft>
                <a:spcPts val="700"/>
              </a:spcAft>
            </a:pPr>
            <a:r>
              <a:rPr sz="1280" b="1" dirty="0">
                <a:solidFill>
                  <a:srgbClr val="555F70"/>
                </a:solidFill>
                <a:latin typeface="Aptos"/>
              </a:rPr>
              <a:t>Pipelines et droits à </a:t>
            </a:r>
            <a:r>
              <a:rPr sz="1280" b="1" dirty="0" err="1">
                <a:solidFill>
                  <a:srgbClr val="555F70"/>
                </a:solidFill>
                <a:latin typeface="Aptos"/>
              </a:rPr>
              <a:t>reconfigurer</a:t>
            </a:r>
            <a:r>
              <a:rPr sz="1280" b="1" dirty="0">
                <a:solidFill>
                  <a:srgbClr val="555F70"/>
                </a:solidFill>
                <a:latin typeface="Aptos"/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" y="4919472"/>
            <a:ext cx="8183879" cy="38404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lang="fr-CH" sz="1700" b="1" dirty="0">
                <a:solidFill>
                  <a:srgbClr val="212D3C"/>
                </a:solidFill>
                <a:latin typeface="Aptos"/>
              </a:rPr>
              <a:t>Recommandation: </a:t>
            </a:r>
            <a:r>
              <a:rPr sz="1700" b="1" dirty="0">
                <a:solidFill>
                  <a:srgbClr val="212D3C"/>
                </a:solidFill>
                <a:latin typeface="Aptos"/>
              </a:rPr>
              <a:t>acceptable pour </a:t>
            </a:r>
            <a:r>
              <a:rPr sz="1700" b="1" dirty="0" err="1">
                <a:solidFill>
                  <a:srgbClr val="212D3C"/>
                </a:solidFill>
                <a:latin typeface="Aptos"/>
              </a:rPr>
              <a:t>une</a:t>
            </a:r>
            <a:r>
              <a:rPr sz="1700" b="1" dirty="0">
                <a:solidFill>
                  <a:srgbClr val="212D3C"/>
                </a:solidFill>
                <a:latin typeface="Aptos"/>
              </a:rPr>
              <a:t> PME </a:t>
            </a:r>
            <a:r>
              <a:rPr sz="1700" b="1" dirty="0" err="1">
                <a:solidFill>
                  <a:srgbClr val="212D3C"/>
                </a:solidFill>
                <a:latin typeface="Aptos"/>
              </a:rPr>
              <a:t>si</a:t>
            </a:r>
            <a:r>
              <a:rPr sz="1700" b="1" dirty="0">
                <a:solidFill>
                  <a:srgbClr val="212D3C"/>
                </a:solidFill>
                <a:latin typeface="Aptos"/>
              </a:rPr>
              <a:t> les gains </a:t>
            </a:r>
            <a:r>
              <a:rPr sz="1700" b="1" dirty="0" err="1">
                <a:solidFill>
                  <a:srgbClr val="212D3C"/>
                </a:solidFill>
                <a:latin typeface="Aptos"/>
              </a:rPr>
              <a:t>opérationnels</a:t>
            </a:r>
            <a:r>
              <a:rPr sz="1700" b="1" dirty="0">
                <a:solidFill>
                  <a:srgbClr val="212D3C"/>
                </a:solidFill>
                <a:latin typeface="Aptos"/>
              </a:rPr>
              <a:t> </a:t>
            </a:r>
            <a:r>
              <a:rPr sz="1700" b="1" dirty="0" err="1">
                <a:solidFill>
                  <a:srgbClr val="212D3C"/>
                </a:solidFill>
                <a:latin typeface="Aptos"/>
              </a:rPr>
              <a:t>compensent</a:t>
            </a:r>
            <a:r>
              <a:rPr sz="1700" b="1" dirty="0">
                <a:solidFill>
                  <a:srgbClr val="212D3C"/>
                </a:solidFill>
                <a:latin typeface="Aptos"/>
              </a:rPr>
              <a:t> la </a:t>
            </a:r>
            <a:r>
              <a:rPr sz="1700" b="1" dirty="0" err="1">
                <a:solidFill>
                  <a:srgbClr val="212D3C"/>
                </a:solidFill>
                <a:latin typeface="Aptos"/>
              </a:rPr>
              <a:t>dépendance</a:t>
            </a:r>
            <a:r>
              <a:rPr sz="1700" b="1" dirty="0">
                <a:solidFill>
                  <a:srgbClr val="212D3C"/>
                </a:solidFill>
                <a:latin typeface="Aptos"/>
              </a:rPr>
              <a:t> AWS.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4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7818120" y="5833872"/>
            <a:ext cx="4373575" cy="1024128"/>
          </a:xfrm>
          <a:custGeom>
            <a:avLst/>
            <a:gdLst/>
            <a:ahLst/>
            <a:cxnLst/>
            <a:rect l="l" t="t" r="r" b="b"/>
            <a:pathLst>
              <a:path w="4373575" h="1024128">
                <a:moveTo>
                  <a:pt x="0" y="1024128"/>
                </a:moveTo>
                <a:lnTo>
                  <a:pt x="4373575" y="0"/>
                </a:lnTo>
                <a:lnTo>
                  <a:pt x="4373575" y="1024128"/>
                </a:lnTo>
                <a:close/>
              </a:path>
            </a:pathLst>
          </a:custGeom>
          <a:solidFill>
            <a:srgbClr val="D21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96240" y="6302574"/>
            <a:ext cx="4389120" cy="15234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750" b="0" dirty="0">
                <a:solidFill>
                  <a:srgbClr val="DCDEEE"/>
                </a:solidFill>
                <a:latin typeface="Aptos"/>
              </a:rPr>
              <a:t>HEIG-VD CLD 2025/26 </a:t>
            </a:r>
            <a:r>
              <a:rPr lang="fr-CH" sz="750" b="0" dirty="0">
                <a:solidFill>
                  <a:srgbClr val="DCDEEE"/>
                </a:solidFill>
                <a:latin typeface="Aptos"/>
              </a:rPr>
              <a:t>- </a:t>
            </a:r>
            <a:r>
              <a:rPr sz="750" b="0" dirty="0">
                <a:solidFill>
                  <a:srgbClr val="DCDEEE"/>
                </a:solidFill>
                <a:latin typeface="Aptos"/>
              </a:rPr>
              <a:t> Amazon OpenSearch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281928"/>
            <a:ext cx="50292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ptos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21792"/>
            <a:ext cx="10515600" cy="6583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ptos Display"/>
              </a:rPr>
              <a:t>Proof-of-concept local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" y="1307592"/>
            <a:ext cx="978408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50" b="0">
                <a:solidFill>
                  <a:srgbClr val="D5DAED"/>
                </a:solidFill>
                <a:latin typeface="Aptos"/>
              </a:rPr>
              <a:t>OpenSearch + Dashboards lancés avant la présentation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828800"/>
            <a:ext cx="4754880" cy="3246120"/>
          </a:xfrm>
          <a:prstGeom prst="rect">
            <a:avLst/>
          </a:prstGeom>
          <a:solidFill>
            <a:srgbClr val="1F1E4C"/>
          </a:solidFill>
          <a:ln w="12700">
            <a:solidFill>
              <a:srgbClr val="565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14400" y="1993392"/>
            <a:ext cx="109728" cy="109728"/>
          </a:xfrm>
          <a:prstGeom prst="ellipse">
            <a:avLst/>
          </a:prstGeom>
          <a:solidFill>
            <a:srgbClr val="EC5B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097280" y="1993392"/>
            <a:ext cx="109728" cy="109728"/>
          </a:xfrm>
          <a:prstGeom prst="ellipse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280160" y="1993392"/>
            <a:ext cx="109728" cy="109728"/>
          </a:xfrm>
          <a:prstGeom prst="ellipse">
            <a:avLst/>
          </a:prstGeom>
          <a:solidFill>
            <a:srgbClr val="54C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9264" y="2359152"/>
            <a:ext cx="4242816" cy="253288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50" b="0">
                <a:solidFill>
                  <a:srgbClr val="E2E9F4"/>
                </a:solidFill>
                <a:latin typeface="Aptos"/>
              </a:rPr>
              <a:t>docker compose up -d
OpenSearch
http://localhost:9200
Dashboards
http://localhost:5601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53328" y="1828800"/>
            <a:ext cx="4892040" cy="3246120"/>
          </a:xfrm>
          <a:prstGeom prst="rect">
            <a:avLst/>
          </a:prstGeom>
          <a:solidFill>
            <a:srgbClr val="312D73"/>
          </a:solidFill>
          <a:ln w="12700">
            <a:solidFill>
              <a:srgbClr val="565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64224" y="2121408"/>
            <a:ext cx="4270248" cy="31089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900" b="1">
                <a:solidFill>
                  <a:srgbClr val="00AABE"/>
                </a:solidFill>
                <a:latin typeface="Aptos"/>
              </a:rPr>
              <a:t>Données de démonstration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2788920"/>
            <a:ext cx="4251959" cy="213055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>
              <a:spcAft>
                <a:spcPts val="700"/>
              </a:spcAft>
            </a:pPr>
            <a:r>
              <a:rPr sz="1320">
                <a:solidFill>
                  <a:srgbClr val="FFFFFF"/>
                </a:solidFill>
                <a:latin typeface="Aptos"/>
              </a:rPr>
              <a:t>15 documents JSON.</a:t>
            </a:r>
          </a:p>
          <a:p>
            <a:pPr>
              <a:spcAft>
                <a:spcPts val="700"/>
              </a:spcAft>
            </a:pPr>
            <a:r>
              <a:rPr sz="1320">
                <a:solidFill>
                  <a:srgbClr val="FFFFFF"/>
                </a:solidFill>
                <a:latin typeface="Aptos"/>
              </a:rPr>
              <a:t>Services: webserver, checkout, payment, auth.</a:t>
            </a:r>
          </a:p>
          <a:p>
            <a:pPr>
              <a:spcAft>
                <a:spcPts val="700"/>
              </a:spcAft>
            </a:pPr>
            <a:r>
              <a:rPr sz="1320">
                <a:solidFill>
                  <a:srgbClr val="FFFFFF"/>
                </a:solidFill>
                <a:latin typeface="Aptos"/>
              </a:rPr>
              <a:t>Objectif: trouver erreurs 500 et requêtes lentes.</a:t>
            </a:r>
          </a:p>
          <a:p>
            <a:pPr>
              <a:spcAft>
                <a:spcPts val="700"/>
              </a:spcAft>
            </a:pPr>
            <a:r>
              <a:rPr sz="1320">
                <a:solidFill>
                  <a:srgbClr val="FFFFFF"/>
                </a:solidFill>
                <a:latin typeface="Aptos"/>
              </a:rPr>
              <a:t>Manipulation dans OpenSearch Dashboards Dev Tools.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4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7818120" y="5833872"/>
            <a:ext cx="4373575" cy="1024128"/>
          </a:xfrm>
          <a:custGeom>
            <a:avLst/>
            <a:gdLst/>
            <a:ahLst/>
            <a:cxnLst/>
            <a:rect l="l" t="t" r="r" b="b"/>
            <a:pathLst>
              <a:path w="4373575" h="1024128">
                <a:moveTo>
                  <a:pt x="0" y="1024128"/>
                </a:moveTo>
                <a:lnTo>
                  <a:pt x="4373575" y="0"/>
                </a:lnTo>
                <a:lnTo>
                  <a:pt x="4373575" y="1024128"/>
                </a:lnTo>
                <a:close/>
              </a:path>
            </a:pathLst>
          </a:custGeom>
          <a:solidFill>
            <a:srgbClr val="D21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96240" y="6319410"/>
            <a:ext cx="4389120" cy="15234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750" b="0" dirty="0">
                <a:solidFill>
                  <a:srgbClr val="DCDEEE"/>
                </a:solidFill>
                <a:latin typeface="Aptos"/>
              </a:rPr>
              <a:t>HEIG-VD CLD 2025/26 </a:t>
            </a:r>
            <a:r>
              <a:rPr lang="fr-CH" sz="750" b="0" dirty="0">
                <a:solidFill>
                  <a:srgbClr val="DCDEEE"/>
                </a:solidFill>
                <a:latin typeface="Aptos"/>
              </a:rPr>
              <a:t>- </a:t>
            </a:r>
            <a:r>
              <a:rPr sz="750" b="0" dirty="0">
                <a:solidFill>
                  <a:srgbClr val="DCDEEE"/>
                </a:solidFill>
                <a:latin typeface="Aptos"/>
              </a:rPr>
              <a:t> Amazon OpenSearch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281928"/>
            <a:ext cx="50292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ptos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21792"/>
            <a:ext cx="10515600" cy="6583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ptos Display"/>
              </a:rPr>
              <a:t>Déroulé de la démo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" y="1307592"/>
            <a:ext cx="978408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50" b="0">
                <a:solidFill>
                  <a:srgbClr val="D5DAED"/>
                </a:solidFill>
                <a:latin typeface="Aptos"/>
              </a:rPr>
              <a:t>Chercher, filtrer, croiser, puis agréger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" y="1865376"/>
            <a:ext cx="2304288" cy="3429000"/>
          </a:xfrm>
          <a:prstGeom prst="rect">
            <a:avLst/>
          </a:prstGeom>
          <a:solidFill>
            <a:srgbClr val="312D73"/>
          </a:solidFill>
          <a:ln w="12700">
            <a:solidFill>
              <a:srgbClr val="565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04672" y="2139696"/>
            <a:ext cx="786384" cy="292608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2" y="2208276"/>
            <a:ext cx="786384" cy="10972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750" b="1">
                <a:solidFill>
                  <a:srgbClr val="26245B"/>
                </a:solidFill>
                <a:latin typeface="Aptos"/>
              </a:rPr>
              <a:t>ÉTAPE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606040"/>
            <a:ext cx="1901952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Rechercher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154680"/>
            <a:ext cx="1828800" cy="16459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220" dirty="0">
                <a:solidFill>
                  <a:srgbClr val="D5DAED"/>
                </a:solidFill>
                <a:latin typeface="Aptos"/>
              </a:rPr>
              <a:t>1. Tous les logs</a:t>
            </a:r>
          </a:p>
          <a:p>
            <a:pPr>
              <a:spcAft>
                <a:spcPts val="800"/>
              </a:spcAft>
            </a:pPr>
            <a:r>
              <a:rPr sz="1220" dirty="0">
                <a:solidFill>
                  <a:srgbClr val="D5DAED"/>
                </a:solidFill>
                <a:latin typeface="Aptos"/>
              </a:rPr>
              <a:t>GET /logs/_search</a:t>
            </a:r>
          </a:p>
          <a:p>
            <a:pPr>
              <a:spcAft>
                <a:spcPts val="800"/>
              </a:spcAft>
            </a:pPr>
            <a:r>
              <a:rPr sz="1220" dirty="0" err="1">
                <a:solidFill>
                  <a:srgbClr val="D5DAED"/>
                </a:solidFill>
                <a:latin typeface="Aptos"/>
              </a:rPr>
              <a:t>match_all</a:t>
            </a:r>
            <a:endParaRPr sz="1220" dirty="0">
              <a:solidFill>
                <a:srgbClr val="D5DAED"/>
              </a:solidFill>
              <a:latin typeface="Aptos"/>
            </a:endParaRPr>
          </a:p>
        </p:txBody>
      </p:sp>
      <p:cxnSp>
        <p:nvCxnSpPr>
          <p:cNvPr id="14" name="Connector 13"/>
          <p:cNvCxnSpPr/>
          <p:nvPr/>
        </p:nvCxnSpPr>
        <p:spPr>
          <a:xfrm>
            <a:off x="2889504" y="3566160"/>
            <a:ext cx="512064" cy="0"/>
          </a:xfrm>
          <a:prstGeom prst="line">
            <a:avLst/>
          </a:prstGeom>
          <a:ln w="25400">
            <a:solidFill>
              <a:srgbClr val="D218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3401568" y="1865376"/>
            <a:ext cx="2304288" cy="3429000"/>
          </a:xfrm>
          <a:prstGeom prst="rect">
            <a:avLst/>
          </a:prstGeom>
          <a:solidFill>
            <a:srgbClr val="312D73"/>
          </a:solidFill>
          <a:ln w="12700">
            <a:solidFill>
              <a:srgbClr val="565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21024" y="2139696"/>
            <a:ext cx="786384" cy="292608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21024" y="2208276"/>
            <a:ext cx="786384" cy="10972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750" b="1">
                <a:solidFill>
                  <a:srgbClr val="26245B"/>
                </a:solidFill>
                <a:latin typeface="Aptos"/>
              </a:rPr>
              <a:t>ÉTAPE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1024" y="2606040"/>
            <a:ext cx="1901952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Filtrer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9312" y="3154680"/>
            <a:ext cx="1828800" cy="16459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220" dirty="0">
                <a:solidFill>
                  <a:srgbClr val="D5DAED"/>
                </a:solidFill>
                <a:latin typeface="Aptos"/>
              </a:rPr>
              <a:t>2. ERROR </a:t>
            </a:r>
            <a:r>
              <a:rPr sz="1220" dirty="0" err="1">
                <a:solidFill>
                  <a:srgbClr val="D5DAED"/>
                </a:solidFill>
                <a:latin typeface="Aptos"/>
              </a:rPr>
              <a:t>uniquement</a:t>
            </a:r>
            <a:endParaRPr sz="1220" dirty="0">
              <a:solidFill>
                <a:srgbClr val="D5DAED"/>
              </a:solidFill>
              <a:latin typeface="Aptos"/>
            </a:endParaRPr>
          </a:p>
          <a:p>
            <a:pPr>
              <a:spcAft>
                <a:spcPts val="800"/>
              </a:spcAft>
            </a:pPr>
            <a:r>
              <a:rPr sz="1220" dirty="0">
                <a:solidFill>
                  <a:srgbClr val="D5DAED"/>
                </a:solidFill>
                <a:latin typeface="Aptos"/>
              </a:rPr>
              <a:t>3. HTTP 500+</a:t>
            </a:r>
          </a:p>
          <a:p>
            <a:pPr>
              <a:spcAft>
                <a:spcPts val="800"/>
              </a:spcAft>
            </a:pPr>
            <a:r>
              <a:rPr sz="1220" dirty="0">
                <a:solidFill>
                  <a:srgbClr val="D5DAED"/>
                </a:solidFill>
                <a:latin typeface="Aptos"/>
              </a:rPr>
              <a:t>4. </a:t>
            </a:r>
            <a:r>
              <a:rPr sz="1220" dirty="0" err="1">
                <a:solidFill>
                  <a:srgbClr val="D5DAED"/>
                </a:solidFill>
                <a:latin typeface="Aptos"/>
              </a:rPr>
              <a:t>responseTimeMs</a:t>
            </a:r>
            <a:r>
              <a:rPr sz="1220" dirty="0">
                <a:solidFill>
                  <a:srgbClr val="D5DAED"/>
                </a:solidFill>
                <a:latin typeface="Aptos"/>
              </a:rPr>
              <a:t> &gt; 1000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705856" y="3566160"/>
            <a:ext cx="512064" cy="0"/>
          </a:xfrm>
          <a:prstGeom prst="line">
            <a:avLst/>
          </a:prstGeom>
          <a:ln w="25400">
            <a:solidFill>
              <a:srgbClr val="D218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217920" y="1865376"/>
            <a:ext cx="2304288" cy="3429000"/>
          </a:xfrm>
          <a:prstGeom prst="rect">
            <a:avLst/>
          </a:prstGeom>
          <a:solidFill>
            <a:srgbClr val="312D73"/>
          </a:solidFill>
          <a:ln w="12700">
            <a:solidFill>
              <a:srgbClr val="565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437376" y="2139696"/>
            <a:ext cx="786384" cy="292608"/>
          </a:xfrm>
          <a:prstGeom prst="rect">
            <a:avLst/>
          </a:prstGeom>
          <a:solidFill>
            <a:srgbClr val="00AA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37376" y="2208276"/>
            <a:ext cx="786384" cy="10972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750" b="1">
                <a:solidFill>
                  <a:srgbClr val="26245B"/>
                </a:solidFill>
                <a:latin typeface="Aptos"/>
              </a:rPr>
              <a:t>ÉTAPE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7376" y="2606040"/>
            <a:ext cx="1901952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Croiser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3154680"/>
            <a:ext cx="1828800" cy="16459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220">
                <a:solidFill>
                  <a:srgbClr val="D5DAED"/>
                </a:solidFill>
                <a:latin typeface="Aptos"/>
              </a:rPr>
              <a:t>5. ERROR + lente</a:t>
            </a:r>
          </a:p>
          <a:p>
            <a:pPr>
              <a:spcAft>
                <a:spcPts val="800"/>
              </a:spcAft>
            </a:pPr>
            <a:r>
              <a:rPr sz="1220">
                <a:solidFill>
                  <a:srgbClr val="D5DAED"/>
                </a:solidFill>
                <a:latin typeface="Aptos"/>
              </a:rPr>
              <a:t>Incidents critiques</a:t>
            </a:r>
          </a:p>
          <a:p>
            <a:pPr>
              <a:spcAft>
                <a:spcPts val="800"/>
              </a:spcAft>
            </a:pPr>
            <a:r>
              <a:rPr sz="1220">
                <a:solidFill>
                  <a:srgbClr val="D5DAED"/>
                </a:solidFill>
                <a:latin typeface="Aptos"/>
              </a:rPr>
              <a:t>Priorisation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522208" y="3566160"/>
            <a:ext cx="512064" cy="0"/>
          </a:xfrm>
          <a:prstGeom prst="line">
            <a:avLst/>
          </a:prstGeom>
          <a:ln w="25400">
            <a:solidFill>
              <a:srgbClr val="D218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9034272" y="1865376"/>
            <a:ext cx="2304288" cy="3429000"/>
          </a:xfrm>
          <a:prstGeom prst="rect">
            <a:avLst/>
          </a:prstGeom>
          <a:solidFill>
            <a:srgbClr val="312D73"/>
          </a:solidFill>
          <a:ln w="12700">
            <a:solidFill>
              <a:srgbClr val="565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9253728" y="2139696"/>
            <a:ext cx="786384" cy="292608"/>
          </a:xfrm>
          <a:prstGeom prst="rect">
            <a:avLst/>
          </a:prstGeom>
          <a:solidFill>
            <a:srgbClr val="00AA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253728" y="2208276"/>
            <a:ext cx="786384" cy="10972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750" b="1">
                <a:solidFill>
                  <a:srgbClr val="26245B"/>
                </a:solidFill>
                <a:latin typeface="Aptos"/>
              </a:rPr>
              <a:t>ÉTAPE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53728" y="2606040"/>
            <a:ext cx="1901952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Agréger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72016" y="3154680"/>
            <a:ext cx="1828800" cy="16459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220">
                <a:solidFill>
                  <a:srgbClr val="D5DAED"/>
                </a:solidFill>
                <a:latin typeface="Aptos"/>
              </a:rPr>
              <a:t>6. Erreurs par service</a:t>
            </a:r>
          </a:p>
          <a:p>
            <a:pPr>
              <a:spcAft>
                <a:spcPts val="800"/>
              </a:spcAft>
            </a:pPr>
            <a:r>
              <a:rPr sz="1220">
                <a:solidFill>
                  <a:srgbClr val="D5DAED"/>
                </a:solidFill>
                <a:latin typeface="Aptos"/>
              </a:rPr>
              <a:t>7. Latence moyenne</a:t>
            </a:r>
          </a:p>
          <a:p>
            <a:pPr>
              <a:spcAft>
                <a:spcPts val="800"/>
              </a:spcAft>
            </a:pPr>
            <a:r>
              <a:rPr sz="1220">
                <a:solidFill>
                  <a:srgbClr val="D5DAED"/>
                </a:solidFill>
                <a:latin typeface="Aptos"/>
              </a:rPr>
              <a:t>checkout ressort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30568" y="5532120"/>
            <a:ext cx="4343400" cy="694944"/>
          </a:xfrm>
          <a:prstGeom prst="rect">
            <a:avLst/>
          </a:prstGeom>
          <a:solidFill>
            <a:srgbClr val="1F1E4C"/>
          </a:solidFill>
          <a:ln w="12700">
            <a:solidFill>
              <a:srgbClr val="565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6922007" y="5650992"/>
            <a:ext cx="109728" cy="109728"/>
          </a:xfrm>
          <a:prstGeom prst="ellipse">
            <a:avLst/>
          </a:prstGeom>
          <a:solidFill>
            <a:srgbClr val="EC5B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7104888" y="5650992"/>
            <a:ext cx="109728" cy="109728"/>
          </a:xfrm>
          <a:prstGeom prst="ellipse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7287768" y="5650992"/>
            <a:ext cx="109728" cy="109728"/>
          </a:xfrm>
          <a:prstGeom prst="ellipse">
            <a:avLst/>
          </a:prstGeom>
          <a:solidFill>
            <a:srgbClr val="54C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118604" y="5917898"/>
            <a:ext cx="3831335" cy="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50" b="0" dirty="0">
                <a:solidFill>
                  <a:srgbClr val="E2E9F4"/>
                </a:solidFill>
                <a:latin typeface="Aptos"/>
              </a:rPr>
              <a:t>GET /logs/_search  { "query": { "</a:t>
            </a:r>
            <a:r>
              <a:rPr sz="1250" b="0" dirty="0" err="1">
                <a:solidFill>
                  <a:srgbClr val="E2E9F4"/>
                </a:solidFill>
                <a:latin typeface="Aptos"/>
              </a:rPr>
              <a:t>match_all</a:t>
            </a:r>
            <a:r>
              <a:rPr sz="1250" b="0" dirty="0">
                <a:solidFill>
                  <a:srgbClr val="E2E9F4"/>
                </a:solidFill>
                <a:latin typeface="Aptos"/>
              </a:rPr>
              <a:t>": {} } 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4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7818120" y="5833872"/>
            <a:ext cx="4373575" cy="1024128"/>
          </a:xfrm>
          <a:custGeom>
            <a:avLst/>
            <a:gdLst/>
            <a:ahLst/>
            <a:cxnLst/>
            <a:rect l="l" t="t" r="r" b="b"/>
            <a:pathLst>
              <a:path w="4373575" h="1024128">
                <a:moveTo>
                  <a:pt x="0" y="1024128"/>
                </a:moveTo>
                <a:lnTo>
                  <a:pt x="4373575" y="0"/>
                </a:lnTo>
                <a:lnTo>
                  <a:pt x="4373575" y="1024128"/>
                </a:lnTo>
                <a:close/>
              </a:path>
            </a:pathLst>
          </a:custGeom>
          <a:solidFill>
            <a:srgbClr val="D21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96240" y="6281928"/>
            <a:ext cx="4389120" cy="14630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750" b="0" dirty="0">
                <a:solidFill>
                  <a:srgbClr val="DCDEEE"/>
                </a:solidFill>
                <a:latin typeface="Aptos"/>
              </a:rPr>
              <a:t>HEIG-VD CLD 2025/26 · Amazon OpenSearch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281928"/>
            <a:ext cx="50292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ptos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21792"/>
            <a:ext cx="10515600" cy="6583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3400" b="1" dirty="0" err="1">
                <a:solidFill>
                  <a:srgbClr val="FFFFFF"/>
                </a:solidFill>
                <a:latin typeface="Aptos Display"/>
              </a:rPr>
              <a:t>Quand</a:t>
            </a:r>
            <a:r>
              <a:rPr sz="3400" b="1" dirty="0">
                <a:solidFill>
                  <a:srgbClr val="FFFFFF"/>
                </a:solidFill>
                <a:latin typeface="Aptos Display"/>
              </a:rPr>
              <a:t> </a:t>
            </a:r>
            <a:r>
              <a:rPr sz="3400" b="1" dirty="0" err="1">
                <a:solidFill>
                  <a:srgbClr val="FFFFFF"/>
                </a:solidFill>
                <a:latin typeface="Aptos Display"/>
              </a:rPr>
              <a:t>l’utiliser</a:t>
            </a:r>
            <a:r>
              <a:rPr sz="3400" b="1" dirty="0">
                <a:solidFill>
                  <a:srgbClr val="FFFFFF"/>
                </a:solidFill>
                <a:latin typeface="Aptos Display"/>
              </a:rPr>
              <a:t>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" y="1307592"/>
            <a:ext cx="978408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50" b="0" dirty="0">
                <a:solidFill>
                  <a:srgbClr val="D5DAED"/>
                </a:solidFill>
                <a:latin typeface="Aptos"/>
              </a:rPr>
              <a:t>La bonne </a:t>
            </a:r>
            <a:r>
              <a:rPr sz="1250" b="0" dirty="0" err="1">
                <a:solidFill>
                  <a:srgbClr val="D5DAED"/>
                </a:solidFill>
                <a:latin typeface="Aptos"/>
              </a:rPr>
              <a:t>décision</a:t>
            </a:r>
            <a:r>
              <a:rPr sz="1250" b="0" dirty="0">
                <a:solidFill>
                  <a:srgbClr val="D5DAED"/>
                </a:solidFill>
                <a:latin typeface="Aptos"/>
              </a:rPr>
              <a:t> </a:t>
            </a:r>
            <a:r>
              <a:rPr sz="1250" b="0" dirty="0" err="1">
                <a:solidFill>
                  <a:srgbClr val="D5DAED"/>
                </a:solidFill>
                <a:latin typeface="Aptos"/>
              </a:rPr>
              <a:t>dépend</a:t>
            </a:r>
            <a:r>
              <a:rPr sz="1250" b="0" dirty="0">
                <a:solidFill>
                  <a:srgbClr val="D5DAED"/>
                </a:solidFill>
                <a:latin typeface="Aptos"/>
              </a:rPr>
              <a:t> du volume, de la recherche et du budget</a:t>
            </a:r>
          </a:p>
        </p:txBody>
      </p:sp>
      <p:sp>
        <p:nvSpPr>
          <p:cNvPr id="9" name="Rectangle 8"/>
          <p:cNvSpPr/>
          <p:nvPr/>
        </p:nvSpPr>
        <p:spPr>
          <a:xfrm>
            <a:off x="768096" y="1828800"/>
            <a:ext cx="4983480" cy="3520440"/>
          </a:xfrm>
          <a:prstGeom prst="rect">
            <a:avLst/>
          </a:prstGeom>
          <a:solidFill>
            <a:srgbClr val="312D73"/>
          </a:solidFill>
          <a:ln w="12700">
            <a:solidFill>
              <a:srgbClr val="565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78992" y="2121408"/>
            <a:ext cx="4361688" cy="31089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900" b="1">
                <a:solidFill>
                  <a:srgbClr val="54C484"/>
                </a:solidFill>
                <a:latin typeface="Aptos"/>
              </a:rPr>
              <a:t>Utiliser OpenSearch 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" y="2788920"/>
            <a:ext cx="4343400" cy="2117439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600" dirty="0">
                <a:solidFill>
                  <a:srgbClr val="FFFFFF"/>
                </a:solidFill>
                <a:latin typeface="Aptos"/>
              </a:rPr>
              <a:t>Logs </a:t>
            </a:r>
            <a:r>
              <a:rPr sz="1600" dirty="0" err="1">
                <a:solidFill>
                  <a:srgbClr val="FFFFFF"/>
                </a:solidFill>
                <a:latin typeface="Aptos"/>
              </a:rPr>
              <a:t>répartis</a:t>
            </a:r>
            <a:r>
              <a:rPr sz="1600" dirty="0">
                <a:solidFill>
                  <a:srgbClr val="FFFFFF"/>
                </a:solidFill>
                <a:latin typeface="Aptos"/>
              </a:rPr>
              <a:t> sur </a:t>
            </a:r>
            <a:r>
              <a:rPr sz="1600" dirty="0" err="1">
                <a:solidFill>
                  <a:srgbClr val="FFFFFF"/>
                </a:solidFill>
                <a:latin typeface="Aptos"/>
              </a:rPr>
              <a:t>plusieurs</a:t>
            </a:r>
            <a:r>
              <a:rPr sz="1600" dirty="0">
                <a:solidFill>
                  <a:srgbClr val="FFFFFF"/>
                </a:solidFill>
                <a:latin typeface="Aptos"/>
              </a:rPr>
              <a:t> services </a:t>
            </a:r>
            <a:r>
              <a:rPr sz="1600" dirty="0" err="1">
                <a:solidFill>
                  <a:srgbClr val="FFFFFF"/>
                </a:solidFill>
                <a:latin typeface="Aptos"/>
              </a:rPr>
              <a:t>ou</a:t>
            </a:r>
            <a:r>
              <a:rPr sz="1600" dirty="0">
                <a:solidFill>
                  <a:srgbClr val="FFFFFF"/>
                </a:solidFill>
                <a:latin typeface="Aptos"/>
              </a:rPr>
              <a:t> </a:t>
            </a:r>
            <a:r>
              <a:rPr sz="1600" dirty="0" err="1">
                <a:solidFill>
                  <a:srgbClr val="FFFFFF"/>
                </a:solidFill>
                <a:latin typeface="Aptos"/>
              </a:rPr>
              <a:t>serveurs</a:t>
            </a:r>
            <a:r>
              <a:rPr sz="1600" dirty="0">
                <a:solidFill>
                  <a:srgbClr val="FFFFFF"/>
                </a:solidFill>
                <a:latin typeface="Aptos"/>
              </a:rPr>
              <a:t>.</a:t>
            </a:r>
          </a:p>
          <a:p>
            <a:pPr marL="285750" indent="-285750">
              <a:lnSpc>
                <a:spcPct val="15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600" dirty="0">
                <a:solidFill>
                  <a:srgbClr val="FFFFFF"/>
                </a:solidFill>
                <a:latin typeface="Aptos"/>
              </a:rPr>
              <a:t>Recherche full-text </a:t>
            </a:r>
            <a:r>
              <a:rPr sz="1600" dirty="0" err="1">
                <a:solidFill>
                  <a:srgbClr val="FFFFFF"/>
                </a:solidFill>
                <a:latin typeface="Aptos"/>
              </a:rPr>
              <a:t>ou</a:t>
            </a:r>
            <a:r>
              <a:rPr sz="1600" dirty="0">
                <a:solidFill>
                  <a:srgbClr val="FFFFFF"/>
                </a:solidFill>
                <a:latin typeface="Aptos"/>
              </a:rPr>
              <a:t> JSON à </a:t>
            </a:r>
            <a:r>
              <a:rPr sz="1600" dirty="0" err="1">
                <a:solidFill>
                  <a:srgbClr val="FFFFFF"/>
                </a:solidFill>
                <a:latin typeface="Aptos"/>
              </a:rPr>
              <a:t>grande</a:t>
            </a:r>
            <a:r>
              <a:rPr sz="1600" dirty="0">
                <a:solidFill>
                  <a:srgbClr val="FFFFFF"/>
                </a:solidFill>
                <a:latin typeface="Aptos"/>
              </a:rPr>
              <a:t> </a:t>
            </a:r>
            <a:r>
              <a:rPr sz="1600" dirty="0" err="1">
                <a:solidFill>
                  <a:srgbClr val="FFFFFF"/>
                </a:solidFill>
                <a:latin typeface="Aptos"/>
              </a:rPr>
              <a:t>échelle</a:t>
            </a:r>
            <a:r>
              <a:rPr sz="1600" dirty="0">
                <a:solidFill>
                  <a:srgbClr val="FFFFFF"/>
                </a:solidFill>
                <a:latin typeface="Aptos"/>
              </a:rPr>
              <a:t>.</a:t>
            </a:r>
          </a:p>
          <a:p>
            <a:pPr marL="285750" indent="-285750">
              <a:lnSpc>
                <a:spcPct val="15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600" dirty="0" err="1">
                <a:solidFill>
                  <a:srgbClr val="FFFFFF"/>
                </a:solidFill>
                <a:latin typeface="Aptos"/>
              </a:rPr>
              <a:t>Besoin</a:t>
            </a:r>
            <a:r>
              <a:rPr sz="1600" dirty="0">
                <a:solidFill>
                  <a:srgbClr val="FFFFFF"/>
                </a:solidFill>
                <a:latin typeface="Aptos"/>
              </a:rPr>
              <a:t> de dashboards et </a:t>
            </a:r>
            <a:r>
              <a:rPr sz="1600" dirty="0" err="1">
                <a:solidFill>
                  <a:srgbClr val="FFFFFF"/>
                </a:solidFill>
                <a:latin typeface="Aptos"/>
              </a:rPr>
              <a:t>alertes</a:t>
            </a:r>
            <a:r>
              <a:rPr sz="1600" dirty="0">
                <a:solidFill>
                  <a:srgbClr val="FFFFFF"/>
                </a:solidFill>
                <a:latin typeface="Aptos"/>
              </a:rPr>
              <a:t>.</a:t>
            </a:r>
          </a:p>
          <a:p>
            <a:pPr marL="285750" indent="-285750">
              <a:lnSpc>
                <a:spcPct val="15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600" dirty="0" err="1">
                <a:solidFill>
                  <a:srgbClr val="FFFFFF"/>
                </a:solidFill>
                <a:latin typeface="Aptos"/>
              </a:rPr>
              <a:t>Environnement</a:t>
            </a:r>
            <a:r>
              <a:rPr sz="1600" dirty="0">
                <a:solidFill>
                  <a:srgbClr val="FFFFFF"/>
                </a:solidFill>
                <a:latin typeface="Aptos"/>
              </a:rPr>
              <a:t> déjà AWS.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828800"/>
            <a:ext cx="4983480" cy="3520440"/>
          </a:xfrm>
          <a:prstGeom prst="rect">
            <a:avLst/>
          </a:prstGeom>
          <a:solidFill>
            <a:srgbClr val="312D73"/>
          </a:solidFill>
          <a:ln w="12700">
            <a:solidFill>
              <a:srgbClr val="565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11696" y="2121408"/>
            <a:ext cx="4361688" cy="31089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900" b="1">
                <a:solidFill>
                  <a:srgbClr val="EC5B60"/>
                </a:solidFill>
                <a:latin typeface="Aptos"/>
              </a:rPr>
              <a:t>Éviter OpenSearch 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788920"/>
            <a:ext cx="4343400" cy="227600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600" dirty="0" err="1">
                <a:solidFill>
                  <a:srgbClr val="FFFFFF"/>
                </a:solidFill>
                <a:latin typeface="Aptos"/>
              </a:rPr>
              <a:t>Besoin</a:t>
            </a:r>
            <a:r>
              <a:rPr sz="1600" dirty="0">
                <a:solidFill>
                  <a:srgbClr val="FFFFFF"/>
                </a:solidFill>
                <a:latin typeface="Aptos"/>
              </a:rPr>
              <a:t> </a:t>
            </a:r>
            <a:r>
              <a:rPr sz="1600" dirty="0" err="1">
                <a:solidFill>
                  <a:srgbClr val="FFFFFF"/>
                </a:solidFill>
                <a:latin typeface="Aptos"/>
              </a:rPr>
              <a:t>transactionnel</a:t>
            </a:r>
            <a:r>
              <a:rPr sz="1600" dirty="0">
                <a:solidFill>
                  <a:srgbClr val="FFFFFF"/>
                </a:solidFill>
                <a:latin typeface="Aptos"/>
              </a:rPr>
              <a:t>: </a:t>
            </a:r>
            <a:r>
              <a:rPr sz="1600" dirty="0" err="1">
                <a:solidFill>
                  <a:srgbClr val="FFFFFF"/>
                </a:solidFill>
                <a:latin typeface="Aptos"/>
              </a:rPr>
              <a:t>choisir</a:t>
            </a:r>
            <a:r>
              <a:rPr sz="1600" dirty="0">
                <a:solidFill>
                  <a:srgbClr val="FFFFFF"/>
                </a:solidFill>
                <a:latin typeface="Aptos"/>
              </a:rPr>
              <a:t> RDS </a:t>
            </a:r>
            <a:r>
              <a:rPr sz="1600" dirty="0" err="1">
                <a:solidFill>
                  <a:srgbClr val="FFFFFF"/>
                </a:solidFill>
                <a:latin typeface="Aptos"/>
              </a:rPr>
              <a:t>ou</a:t>
            </a:r>
            <a:r>
              <a:rPr sz="1600" dirty="0">
                <a:solidFill>
                  <a:srgbClr val="FFFFFF"/>
                </a:solidFill>
                <a:latin typeface="Aptos"/>
              </a:rPr>
              <a:t> DynamoDB.</a:t>
            </a: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600" dirty="0">
                <a:solidFill>
                  <a:srgbClr val="FFFFFF"/>
                </a:solidFill>
                <a:latin typeface="Aptos"/>
              </a:rPr>
              <a:t>CloudWatch Logs </a:t>
            </a:r>
            <a:r>
              <a:rPr sz="1600" dirty="0" err="1">
                <a:solidFill>
                  <a:srgbClr val="FFFFFF"/>
                </a:solidFill>
                <a:latin typeface="Aptos"/>
              </a:rPr>
              <a:t>suffit</a:t>
            </a:r>
            <a:r>
              <a:rPr sz="1600" dirty="0">
                <a:solidFill>
                  <a:srgbClr val="FFFFFF"/>
                </a:solidFill>
                <a:latin typeface="Aptos"/>
              </a:rPr>
              <a:t> pour le volume </a:t>
            </a:r>
            <a:r>
              <a:rPr sz="1600" dirty="0" err="1">
                <a:solidFill>
                  <a:srgbClr val="FFFFFF"/>
                </a:solidFill>
                <a:latin typeface="Aptos"/>
              </a:rPr>
              <a:t>actuel</a:t>
            </a:r>
            <a:r>
              <a:rPr sz="1600" dirty="0">
                <a:solidFill>
                  <a:srgbClr val="FFFFFF"/>
                </a:solidFill>
                <a:latin typeface="Aptos"/>
              </a:rPr>
              <a:t>.</a:t>
            </a: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600" dirty="0">
                <a:solidFill>
                  <a:srgbClr val="FFFFFF"/>
                </a:solidFill>
                <a:latin typeface="Aptos"/>
              </a:rPr>
              <a:t>Budget minimum </a:t>
            </a:r>
            <a:r>
              <a:rPr sz="1600" dirty="0" err="1">
                <a:solidFill>
                  <a:srgbClr val="FFFFFF"/>
                </a:solidFill>
                <a:latin typeface="Aptos"/>
              </a:rPr>
              <a:t>d’environ</a:t>
            </a:r>
            <a:r>
              <a:rPr sz="1600" dirty="0">
                <a:solidFill>
                  <a:srgbClr val="FFFFFF"/>
                </a:solidFill>
                <a:latin typeface="Aptos"/>
              </a:rPr>
              <a:t> $100/</a:t>
            </a:r>
            <a:r>
              <a:rPr sz="1600" dirty="0" err="1">
                <a:solidFill>
                  <a:srgbClr val="FFFFFF"/>
                </a:solidFill>
                <a:latin typeface="Aptos"/>
              </a:rPr>
              <a:t>mois</a:t>
            </a:r>
            <a:r>
              <a:rPr sz="1600" dirty="0">
                <a:solidFill>
                  <a:srgbClr val="FFFFFF"/>
                </a:solidFill>
                <a:latin typeface="Aptos"/>
              </a:rPr>
              <a:t> non </a:t>
            </a:r>
            <a:r>
              <a:rPr sz="1600" dirty="0" err="1">
                <a:solidFill>
                  <a:srgbClr val="FFFFFF"/>
                </a:solidFill>
                <a:latin typeface="Aptos"/>
              </a:rPr>
              <a:t>justifié</a:t>
            </a:r>
            <a:r>
              <a:rPr sz="1600" dirty="0">
                <a:solidFill>
                  <a:srgbClr val="FFFFFF"/>
                </a:solidFill>
                <a:latin typeface="Aptos"/>
              </a:rPr>
              <a:t>.</a:t>
            </a: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600" dirty="0">
                <a:solidFill>
                  <a:srgbClr val="FFFFFF"/>
                </a:solidFill>
                <a:latin typeface="Aptos"/>
              </a:rPr>
              <a:t>Lookup </a:t>
            </a:r>
            <a:r>
              <a:rPr sz="1600" dirty="0" err="1">
                <a:solidFill>
                  <a:srgbClr val="FFFFFF"/>
                </a:solidFill>
                <a:latin typeface="Aptos"/>
              </a:rPr>
              <a:t>clé-valeur</a:t>
            </a:r>
            <a:r>
              <a:rPr sz="1600" dirty="0">
                <a:solidFill>
                  <a:srgbClr val="FFFFFF"/>
                </a:solidFill>
                <a:latin typeface="Aptos"/>
              </a:rPr>
              <a:t> très </a:t>
            </a:r>
            <a:r>
              <a:rPr sz="1600" dirty="0" err="1">
                <a:solidFill>
                  <a:srgbClr val="FFFFFF"/>
                </a:solidFill>
                <a:latin typeface="Aptos"/>
              </a:rPr>
              <a:t>basse</a:t>
            </a:r>
            <a:r>
              <a:rPr sz="1600" dirty="0">
                <a:solidFill>
                  <a:srgbClr val="FFFFFF"/>
                </a:solidFill>
                <a:latin typeface="Aptos"/>
              </a:rPr>
              <a:t> </a:t>
            </a:r>
            <a:r>
              <a:rPr sz="1600" dirty="0" err="1">
                <a:solidFill>
                  <a:srgbClr val="FFFFFF"/>
                </a:solidFill>
                <a:latin typeface="Aptos"/>
              </a:rPr>
              <a:t>latence</a:t>
            </a:r>
            <a:r>
              <a:rPr sz="1600" dirty="0">
                <a:solidFill>
                  <a:srgbClr val="FFFFFF"/>
                </a:solidFill>
                <a:latin typeface="Aptos"/>
              </a:rPr>
              <a:t>: </a:t>
            </a:r>
            <a:r>
              <a:rPr sz="1600" dirty="0" err="1">
                <a:solidFill>
                  <a:srgbClr val="FFFFFF"/>
                </a:solidFill>
                <a:latin typeface="Aptos"/>
              </a:rPr>
              <a:t>ElastiCache</a:t>
            </a:r>
            <a:r>
              <a:rPr sz="1600" dirty="0">
                <a:solidFill>
                  <a:srgbClr val="FFFFFF"/>
                </a:solidFill>
                <a:latin typeface="Aptos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829800" y="0"/>
            <a:ext cx="2359152" cy="6858000"/>
          </a:xfrm>
          <a:prstGeom prst="rect">
            <a:avLst/>
          </a:prstGeom>
          <a:solidFill>
            <a:srgbClr val="262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Freeform 2"/>
          <p:cNvSpPr/>
          <p:nvPr/>
        </p:nvSpPr>
        <p:spPr>
          <a:xfrm>
            <a:off x="7818120" y="5833872"/>
            <a:ext cx="4373575" cy="1024128"/>
          </a:xfrm>
          <a:custGeom>
            <a:avLst/>
            <a:gdLst/>
            <a:ahLst/>
            <a:cxnLst/>
            <a:rect l="l" t="t" r="r" b="b"/>
            <a:pathLst>
              <a:path w="4373575" h="1024128">
                <a:moveTo>
                  <a:pt x="0" y="1024128"/>
                </a:moveTo>
                <a:lnTo>
                  <a:pt x="4373575" y="0"/>
                </a:lnTo>
                <a:lnTo>
                  <a:pt x="4373575" y="1024128"/>
                </a:lnTo>
                <a:close/>
              </a:path>
            </a:pathLst>
          </a:custGeom>
          <a:solidFill>
            <a:srgbClr val="D21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96240" y="6315868"/>
            <a:ext cx="4389120" cy="14630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750" b="0" dirty="0">
                <a:solidFill>
                  <a:srgbClr val="555F70"/>
                </a:solidFill>
                <a:latin typeface="Aptos"/>
              </a:rPr>
              <a:t>HEIG-VD CLD 2025/26 · Amazon OpenSearch Service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281928"/>
            <a:ext cx="50292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1000" b="0">
                <a:solidFill>
                  <a:srgbClr val="212D3C"/>
                </a:solidFill>
                <a:latin typeface="Aptos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326704"/>
            <a:ext cx="4389120" cy="56692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3600" b="1" dirty="0">
                <a:solidFill>
                  <a:srgbClr val="212D3C"/>
                </a:solidFill>
                <a:latin typeface="Aptos Display"/>
              </a:rPr>
              <a:t>Merci !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907792"/>
            <a:ext cx="589788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32688" y="3163824"/>
            <a:ext cx="534924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800" b="1">
                <a:solidFill>
                  <a:srgbClr val="212D3C"/>
                </a:solidFill>
                <a:latin typeface="Aptos"/>
              </a:rPr>
              <a:t>Sources principales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3657600"/>
            <a:ext cx="5330952" cy="15544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>
              <a:spcAft>
                <a:spcPts val="700"/>
              </a:spcAft>
            </a:pPr>
            <a:r>
              <a:rPr sz="1280" dirty="0">
                <a:solidFill>
                  <a:srgbClr val="555F70"/>
                </a:solidFill>
                <a:latin typeface="Aptos"/>
              </a:rPr>
              <a:t>Amazon OpenSearch Service documentation</a:t>
            </a:r>
          </a:p>
          <a:p>
            <a:pPr>
              <a:spcAft>
                <a:spcPts val="700"/>
              </a:spcAft>
            </a:pPr>
            <a:r>
              <a:rPr sz="1280" dirty="0">
                <a:solidFill>
                  <a:srgbClr val="555F70"/>
                </a:solidFill>
                <a:latin typeface="Aptos"/>
              </a:rPr>
              <a:t>OpenSearch project</a:t>
            </a:r>
          </a:p>
          <a:p>
            <a:pPr>
              <a:spcAft>
                <a:spcPts val="700"/>
              </a:spcAft>
            </a:pPr>
            <a:r>
              <a:rPr sz="1280" dirty="0">
                <a:solidFill>
                  <a:srgbClr val="555F70"/>
                </a:solidFill>
                <a:latin typeface="Aptos"/>
              </a:rPr>
              <a:t>AWS pricing page</a:t>
            </a:r>
          </a:p>
          <a:p>
            <a:pPr>
              <a:spcAft>
                <a:spcPts val="700"/>
              </a:spcAft>
            </a:pPr>
            <a:r>
              <a:rPr sz="1280" dirty="0">
                <a:solidFill>
                  <a:srgbClr val="555F70"/>
                </a:solidFill>
                <a:latin typeface="Aptos"/>
              </a:rPr>
              <a:t>OpenSearch Dashboards guide</a:t>
            </a:r>
          </a:p>
          <a:p>
            <a:pPr>
              <a:spcAft>
                <a:spcPts val="700"/>
              </a:spcAft>
            </a:pPr>
            <a:r>
              <a:rPr sz="1280" dirty="0">
                <a:solidFill>
                  <a:srgbClr val="555F70"/>
                </a:solidFill>
                <a:latin typeface="Aptos"/>
              </a:rPr>
              <a:t>AWS Well-Architected - Operational Excellence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783</Words>
  <Application>Microsoft Office PowerPoint</Application>
  <PresentationFormat>Grand écran</PresentationFormat>
  <Paragraphs>148</Paragraphs>
  <Slides>10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>victor giordani</dc:creator>
  <cp:keywords/>
  <dc:description>generated using python-pptx</dc:description>
  <cp:lastModifiedBy>victor giordani</cp:lastModifiedBy>
  <cp:revision>4</cp:revision>
  <dcterms:created xsi:type="dcterms:W3CDTF">2013-01-27T09:14:16Z</dcterms:created>
  <dcterms:modified xsi:type="dcterms:W3CDTF">2026-06-06T17:57:27Z</dcterms:modified>
  <cp:category/>
</cp:coreProperties>
</file>