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6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262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6240" y="6327648"/>
            <a:ext cx="4389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555F70"/>
                </a:solidFill>
                <a:latin typeface="Aptos"/>
              </a:rPr>
              <a:t>HEIG-VD CLD 2025/26 · Amazon OpenSearch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212D3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7" y="602433"/>
            <a:ext cx="2126845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26245B"/>
                </a:solidFill>
                <a:latin typeface="Aptos"/>
              </a:rPr>
              <a:t>WORKSHOP CLD</a:t>
            </a:r>
            <a:r>
              <a:rPr lang="fr-CH" sz="1200" b="1" dirty="0">
                <a:solidFill>
                  <a:srgbClr val="26245B"/>
                </a:solidFill>
                <a:latin typeface="Aptos"/>
              </a:rPr>
              <a:t> - 2026</a:t>
            </a:r>
            <a:endParaRPr sz="1200" b="1" dirty="0">
              <a:solidFill>
                <a:srgbClr val="26245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1664208"/>
            <a:ext cx="62179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dirty="0">
                <a:solidFill>
                  <a:srgbClr val="212D3C"/>
                </a:solidFill>
                <a:latin typeface="Aptos Display"/>
              </a:rPr>
              <a:t>Amazon OpenSearch
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60273"/>
            <a:ext cx="571500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0" dirty="0">
                <a:solidFill>
                  <a:srgbClr val="555F70"/>
                </a:solidFill>
                <a:latin typeface="Aptos"/>
              </a:rPr>
              <a:t>Recherche et </a:t>
            </a:r>
            <a:r>
              <a:rPr b="0" dirty="0" err="1">
                <a:solidFill>
                  <a:srgbClr val="555F70"/>
                </a:solidFill>
                <a:latin typeface="Aptos"/>
              </a:rPr>
              <a:t>analyse</a:t>
            </a:r>
            <a:r>
              <a:rPr b="0" dirty="0">
                <a:solidFill>
                  <a:srgbClr val="555F70"/>
                </a:solidFill>
                <a:latin typeface="Aptos"/>
              </a:rPr>
              <a:t> </a:t>
            </a:r>
            <a:r>
              <a:rPr b="0" dirty="0" err="1">
                <a:solidFill>
                  <a:srgbClr val="555F70"/>
                </a:solidFill>
                <a:latin typeface="Aptos"/>
              </a:rPr>
              <a:t>centralisée</a:t>
            </a:r>
            <a:r>
              <a:rPr b="0" dirty="0">
                <a:solidFill>
                  <a:srgbClr val="555F70"/>
                </a:solidFill>
                <a:latin typeface="Aptos"/>
              </a:rPr>
              <a:t> des logs pour </a:t>
            </a:r>
            <a:r>
              <a:rPr b="0" dirty="0" err="1">
                <a:solidFill>
                  <a:srgbClr val="555F70"/>
                </a:solidFill>
                <a:latin typeface="Aptos"/>
              </a:rPr>
              <a:t>une</a:t>
            </a:r>
            <a:r>
              <a:rPr b="0" dirty="0">
                <a:solidFill>
                  <a:srgbClr val="555F70"/>
                </a:solidFill>
                <a:latin typeface="Aptos"/>
              </a:rPr>
              <a:t> PME </a:t>
            </a:r>
            <a:r>
              <a:rPr b="0" dirty="0" err="1">
                <a:solidFill>
                  <a:srgbClr val="555F70"/>
                </a:solidFill>
                <a:latin typeface="Aptos"/>
              </a:rPr>
              <a:t>suisse</a:t>
            </a:r>
            <a:endParaRPr b="0" dirty="0">
              <a:solidFill>
                <a:srgbClr val="555F7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" y="5239512"/>
            <a:ext cx="534924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dirty="0" err="1">
                <a:solidFill>
                  <a:srgbClr val="555F70"/>
                </a:solidFill>
                <a:latin typeface="Aptos"/>
              </a:rPr>
              <a:t>Koray</a:t>
            </a:r>
            <a:r>
              <a:rPr sz="1200" b="0" dirty="0">
                <a:solidFill>
                  <a:srgbClr val="555F70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55F70"/>
                </a:solidFill>
                <a:latin typeface="Aptos"/>
              </a:rPr>
              <a:t>Akgül</a:t>
            </a:r>
            <a:r>
              <a:rPr sz="1200" b="0" dirty="0">
                <a:solidFill>
                  <a:srgbClr val="555F70"/>
                </a:solidFill>
                <a:latin typeface="Aptos"/>
              </a:rPr>
              <a:t>, Nathan </a:t>
            </a:r>
            <a:r>
              <a:rPr sz="1200" b="0" dirty="0" err="1">
                <a:solidFill>
                  <a:srgbClr val="555F70"/>
                </a:solidFill>
                <a:latin typeface="Aptos"/>
              </a:rPr>
              <a:t>Stampfli</a:t>
            </a:r>
            <a:r>
              <a:rPr lang="fr-CH" sz="1200" b="0" dirty="0">
                <a:solidFill>
                  <a:srgbClr val="555F70"/>
                </a:solidFill>
                <a:latin typeface="Aptos"/>
              </a:rPr>
              <a:t>, Victor Giordani, Abram </a:t>
            </a:r>
            <a:r>
              <a:rPr lang="fr-CH" sz="1200" b="0" dirty="0" err="1">
                <a:solidFill>
                  <a:srgbClr val="555F70"/>
                </a:solidFill>
                <a:latin typeface="Aptos"/>
              </a:rPr>
              <a:t>Zweifel</a:t>
            </a:r>
            <a:endParaRPr sz="1200" b="0" dirty="0">
              <a:solidFill>
                <a:srgbClr val="555F7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95560" y="914400"/>
            <a:ext cx="1572768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Logs
Search
Analytics</a:t>
            </a:r>
          </a:p>
        </p:txBody>
      </p:sp>
      <p:sp>
        <p:nvSpPr>
          <p:cNvPr id="18" name="Oval 17"/>
          <p:cNvSpPr/>
          <p:nvPr/>
        </p:nvSpPr>
        <p:spPr>
          <a:xfrm>
            <a:off x="10634472" y="2743200"/>
            <a:ext cx="685800" cy="6858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34472" y="2942082"/>
            <a:ext cx="685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45B"/>
                </a:solidFill>
                <a:latin typeface="Aptos"/>
              </a:rPr>
              <a:t>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657600"/>
            <a:ext cx="1691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D5DAED"/>
                </a:solidFill>
                <a:latin typeface="Aptos"/>
              </a:rPr>
              <a:t>OpenSearch
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6294171"/>
            <a:ext cx="438912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DCDEEE"/>
                </a:solidFill>
                <a:latin typeface="Aptos"/>
              </a:rPr>
              <a:t>HEIG-VD CLD 2025/26 </a:t>
            </a:r>
            <a:r>
              <a:rPr lang="fr-CH" sz="750" dirty="0">
                <a:solidFill>
                  <a:srgbClr val="DCDEEE"/>
                </a:solidFill>
                <a:latin typeface="Aptos"/>
              </a:rPr>
              <a:t> - </a:t>
            </a:r>
            <a:r>
              <a:rPr sz="750" b="0" dirty="0">
                <a:solidFill>
                  <a:srgbClr val="DCDEEE"/>
                </a:solidFill>
                <a:latin typeface="Aptos"/>
              </a:rPr>
              <a:t>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Défis côté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97840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D5DAED"/>
                </a:solidFill>
                <a:latin typeface="Aptos"/>
              </a:rPr>
              <a:t>Une PME e-commerce </a:t>
            </a:r>
            <a:r>
              <a:rPr sz="1600" b="0" dirty="0" err="1">
                <a:solidFill>
                  <a:srgbClr val="D5DAED"/>
                </a:solidFill>
                <a:latin typeface="Aptos"/>
              </a:rPr>
              <a:t>suisse</a:t>
            </a:r>
            <a:r>
              <a:rPr sz="1600" b="0" dirty="0">
                <a:solidFill>
                  <a:srgbClr val="D5DAE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5DAED"/>
                </a:solidFill>
                <a:latin typeface="Aptos"/>
              </a:rPr>
              <a:t>opère</a:t>
            </a:r>
            <a:r>
              <a:rPr sz="1600" b="0" dirty="0">
                <a:solidFill>
                  <a:srgbClr val="D5DAE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5DAED"/>
                </a:solidFill>
                <a:latin typeface="Aptos"/>
              </a:rPr>
              <a:t>plusieurs</a:t>
            </a:r>
            <a:r>
              <a:rPr sz="1600" b="0" dirty="0">
                <a:solidFill>
                  <a:srgbClr val="D5DAED"/>
                </a:solidFill>
                <a:latin typeface="Aptos"/>
              </a:rPr>
              <a:t> services AWS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40187"/>
            <a:ext cx="3429000" cy="278892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532795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81294"/>
            <a:ext cx="512064" cy="1228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6245B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596639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dirty="0">
                <a:solidFill>
                  <a:srgbClr val="FF9900"/>
                </a:solidFill>
                <a:latin typeface="Aptos"/>
              </a:rPr>
              <a:t>Logs </a:t>
            </a:r>
            <a:r>
              <a:rPr sz="1900" b="1" dirty="0" err="1">
                <a:solidFill>
                  <a:srgbClr val="FF9900"/>
                </a:solidFill>
                <a:latin typeface="Aptos"/>
              </a:rPr>
              <a:t>dispersés</a:t>
            </a:r>
            <a:endParaRPr sz="1900" b="1" dirty="0">
              <a:solidFill>
                <a:srgbClr val="FF99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1832" y="3200307"/>
            <a:ext cx="2788920" cy="9884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EC2, load balancers, checkout, payment, auth.</a:t>
            </a:r>
          </a:p>
          <a:p>
            <a:pPr>
              <a:spcAft>
                <a:spcPts val="700"/>
              </a:spcAft>
            </a:pPr>
            <a:r>
              <a:rPr sz="1400" dirty="0" err="1">
                <a:solidFill>
                  <a:srgbClr val="FFFFFF"/>
                </a:solidFill>
                <a:latin typeface="Aptos"/>
              </a:rPr>
              <a:t>Chaque</a:t>
            </a:r>
            <a:r>
              <a:rPr sz="1400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composant</a:t>
            </a:r>
            <a:r>
              <a:rPr sz="1400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possède</a:t>
            </a:r>
            <a:r>
              <a:rPr sz="1400" dirty="0">
                <a:solidFill>
                  <a:srgbClr val="FFFFFF"/>
                </a:solidFill>
                <a:latin typeface="Aptos"/>
              </a:rPr>
              <a:t> son propre format.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2240187"/>
            <a:ext cx="3429000" cy="278892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63440" y="2532795"/>
            <a:ext cx="512064" cy="512064"/>
          </a:xfrm>
          <a:prstGeom prst="ellipse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681294"/>
            <a:ext cx="512064" cy="1228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6245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633379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dirty="0">
                <a:solidFill>
                  <a:srgbClr val="00AABE"/>
                </a:solidFill>
                <a:latin typeface="Aptos"/>
              </a:rPr>
              <a:t>Diagnostic 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200307"/>
            <a:ext cx="2788920" cy="12039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Les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erreurs</a:t>
            </a:r>
            <a:r>
              <a:rPr sz="1400" dirty="0">
                <a:solidFill>
                  <a:srgbClr val="FFFFFF"/>
                </a:solidFill>
                <a:latin typeface="Aptos"/>
              </a:rPr>
              <a:t> HTTP 500/504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demandent</a:t>
            </a:r>
            <a:r>
              <a:rPr sz="1400" dirty="0">
                <a:solidFill>
                  <a:srgbClr val="FFFFFF"/>
                </a:solidFill>
                <a:latin typeface="Aptos"/>
              </a:rPr>
              <a:t> des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recherches</a:t>
            </a:r>
            <a:r>
              <a:rPr sz="1400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manuelles</a:t>
            </a:r>
            <a:r>
              <a:rPr sz="14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La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corrélation</a:t>
            </a:r>
            <a:r>
              <a:rPr sz="1400" dirty="0">
                <a:solidFill>
                  <a:srgbClr val="FFFFFF"/>
                </a:solidFill>
                <a:latin typeface="Aptos"/>
              </a:rPr>
              <a:t> entre services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prend</a:t>
            </a:r>
            <a:r>
              <a:rPr sz="1400" dirty="0">
                <a:solidFill>
                  <a:srgbClr val="FFFFFF"/>
                </a:solidFill>
                <a:latin typeface="Aptos"/>
              </a:rPr>
              <a:t> trop de temps.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2240187"/>
            <a:ext cx="3429000" cy="278892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0" y="2532795"/>
            <a:ext cx="512064" cy="512064"/>
          </a:xfrm>
          <a:prstGeom prst="ellipse">
            <a:avLst/>
          </a:prstGeom>
          <a:solidFill>
            <a:srgbClr val="54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681294"/>
            <a:ext cx="512064" cy="1228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26245B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96639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dirty="0">
                <a:solidFill>
                  <a:srgbClr val="54C484"/>
                </a:solidFill>
                <a:latin typeface="Aptos"/>
              </a:rP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200307"/>
            <a:ext cx="2788920" cy="9884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OpenSearch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centralise</a:t>
            </a:r>
            <a:r>
              <a:rPr sz="1400" dirty="0">
                <a:solidFill>
                  <a:srgbClr val="FFFFFF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indexe</a:t>
            </a:r>
            <a:r>
              <a:rPr sz="1400" dirty="0">
                <a:solidFill>
                  <a:srgbClr val="FFFFFF"/>
                </a:solidFill>
                <a:latin typeface="Aptos"/>
              </a:rPr>
              <a:t> et rend les logs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recherchables</a:t>
            </a:r>
            <a:r>
              <a:rPr sz="14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400" dirty="0" err="1">
                <a:solidFill>
                  <a:srgbClr val="FFFFFF"/>
                </a:solidFill>
                <a:latin typeface="Aptos"/>
              </a:rPr>
              <a:t>Même</a:t>
            </a:r>
            <a:r>
              <a:rPr sz="1400" dirty="0">
                <a:solidFill>
                  <a:srgbClr val="FFFFFF"/>
                </a:solidFill>
                <a:latin typeface="Aptos"/>
              </a:rPr>
              <a:t> API pour la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démo</a:t>
            </a:r>
            <a:r>
              <a:rPr sz="1400" dirty="0">
                <a:solidFill>
                  <a:srgbClr val="FFFFFF"/>
                </a:solidFill>
                <a:latin typeface="Aptos"/>
              </a:rPr>
              <a:t> locale et le service 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6327648"/>
            <a:ext cx="438912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DCDEEE"/>
                </a:solidFill>
                <a:latin typeface="Aptos"/>
              </a:rPr>
              <a:t>HEIG-VD CLD 2025/26 </a:t>
            </a:r>
            <a:r>
              <a:rPr lang="fr-CH" sz="750" dirty="0">
                <a:solidFill>
                  <a:srgbClr val="DCDEEE"/>
                </a:solidFill>
                <a:latin typeface="Aptos"/>
              </a:rPr>
              <a:t>- </a:t>
            </a:r>
            <a:r>
              <a:rPr sz="750" b="0" dirty="0">
                <a:solidFill>
                  <a:srgbClr val="DCDEEE"/>
                </a:solidFill>
                <a:latin typeface="Aptos"/>
              </a:rPr>
              <a:t>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5601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fr-CH" sz="3400" b="1" dirty="0">
                <a:solidFill>
                  <a:srgbClr val="FFFFFF"/>
                </a:solidFill>
                <a:latin typeface="Aptos Display"/>
              </a:rPr>
              <a:t>C’est quoi 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Amazon OpenSearch Service</a:t>
            </a:r>
            <a:r>
              <a:rPr lang="fr-CH" sz="3400" b="1" dirty="0">
                <a:solidFill>
                  <a:srgbClr val="FFFFFF"/>
                </a:solidFill>
                <a:latin typeface="Aptos Display"/>
              </a:rPr>
              <a:t> ?</a:t>
            </a:r>
            <a:endParaRPr sz="3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274335"/>
            <a:ext cx="9784080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fr-FR" sz="1250" dirty="0">
                <a:solidFill>
                  <a:srgbClr val="D5DAED"/>
                </a:solidFill>
                <a:latin typeface="Aptos"/>
              </a:rPr>
              <a:t>Moteur managé pour rechercher, analyser et visualiser des données en quasi temps réel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2880360" cy="214884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94560"/>
            <a:ext cx="22585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9900"/>
                </a:solidFill>
                <a:latin typeface="Aptos"/>
              </a:rPr>
              <a:t>OpenSearch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52543"/>
            <a:ext cx="2240280" cy="9884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Fork open-source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d’Elasticsearch</a:t>
            </a:r>
            <a:r>
              <a:rPr sz="14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Index, documents, champs et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requêtes</a:t>
            </a:r>
            <a:r>
              <a:rPr sz="14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3583" y="1897152"/>
            <a:ext cx="2880360" cy="214884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4479" y="2189760"/>
            <a:ext cx="22585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00AABE"/>
                </a:solidFill>
                <a:latin typeface="Aptos"/>
              </a:rPr>
              <a:t>Service managé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2766" y="2610384"/>
            <a:ext cx="2384195" cy="12936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dirty="0">
                <a:solidFill>
                  <a:srgbClr val="FFFFFF"/>
                </a:solidFill>
                <a:latin typeface="Aptos"/>
              </a:rPr>
              <a:t>AWS </a:t>
            </a:r>
            <a:r>
              <a:rPr sz="1400" dirty="0" err="1">
                <a:solidFill>
                  <a:srgbClr val="FFFFFF"/>
                </a:solidFill>
                <a:latin typeface="Aptos"/>
              </a:rPr>
              <a:t>gère</a:t>
            </a:r>
            <a:r>
              <a:rPr sz="1400" dirty="0">
                <a:solidFill>
                  <a:srgbClr val="FFFFFF"/>
                </a:solidFill>
                <a:latin typeface="Aptos"/>
              </a:rPr>
              <a:t> provisioning, patching, backups et scaling.</a:t>
            </a:r>
          </a:p>
          <a:p>
            <a:pPr>
              <a:spcAft>
                <a:spcPts val="700"/>
              </a:spcAft>
            </a:pPr>
            <a:r>
              <a:rPr lang="fr-FR" sz="1400" dirty="0">
                <a:solidFill>
                  <a:srgbClr val="FFFFFF"/>
                </a:solidFill>
                <a:latin typeface="Aptos"/>
              </a:rPr>
              <a:t>2 Modes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FFFFFF"/>
                </a:solidFill>
                <a:latin typeface="Aptos"/>
              </a:rPr>
              <a:t>Cluster managé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FFFFFF"/>
                </a:solidFill>
                <a:latin typeface="Aptos"/>
              </a:rPr>
              <a:t> </a:t>
            </a:r>
            <a:r>
              <a:rPr lang="fr-FR" sz="1400" dirty="0" err="1">
                <a:solidFill>
                  <a:srgbClr val="FFFFFF"/>
                </a:solidFill>
                <a:latin typeface="Aptos"/>
              </a:rPr>
              <a:t>serverless</a:t>
            </a:r>
            <a:r>
              <a:rPr lang="fr-FR" sz="1400" dirty="0">
                <a:solidFill>
                  <a:srgbClr val="FFFFFF"/>
                </a:solidFill>
                <a:latin typeface="Aptos"/>
              </a:rPr>
              <a:t> collection.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2376" y="1891240"/>
            <a:ext cx="2880360" cy="214884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3272" y="2183848"/>
            <a:ext cx="2258568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fr-CH" sz="1900" b="1" dirty="0">
                <a:solidFill>
                  <a:srgbClr val="54C484"/>
                </a:solidFill>
                <a:latin typeface="Aptos"/>
              </a:rPr>
              <a:t>Cas d’usage</a:t>
            </a:r>
            <a:endParaRPr sz="1900" b="1" dirty="0">
              <a:solidFill>
                <a:srgbClr val="54C48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62416" y="2663446"/>
            <a:ext cx="2240280" cy="862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lang="fr-CH" sz="1400" dirty="0">
                <a:solidFill>
                  <a:srgbClr val="FFFFFF"/>
                </a:solidFill>
                <a:latin typeface="Aptos"/>
              </a:rPr>
              <a:t>Recherche </a:t>
            </a:r>
            <a:r>
              <a:rPr lang="fr-CH" sz="1400" dirty="0" err="1">
                <a:solidFill>
                  <a:srgbClr val="FFFFFF"/>
                </a:solidFill>
                <a:latin typeface="Aptos"/>
              </a:rPr>
              <a:t>aplicative</a:t>
            </a:r>
            <a:endParaRPr lang="fr-CH" sz="1400"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lang="fr-CH" sz="1400" dirty="0">
                <a:solidFill>
                  <a:srgbClr val="FFFFFF"/>
                </a:solidFill>
                <a:latin typeface="Aptos"/>
              </a:rPr>
              <a:t>Analyse de logs</a:t>
            </a:r>
          </a:p>
          <a:p>
            <a:pPr>
              <a:spcAft>
                <a:spcPts val="700"/>
              </a:spcAft>
            </a:pPr>
            <a:r>
              <a:rPr lang="fr-CH" sz="1400" dirty="0" err="1">
                <a:solidFill>
                  <a:srgbClr val="FFFFFF"/>
                </a:solidFill>
                <a:latin typeface="Aptos"/>
              </a:rPr>
              <a:t>Dashboards</a:t>
            </a:r>
            <a:r>
              <a:rPr lang="fr-CH" sz="1400" dirty="0">
                <a:solidFill>
                  <a:srgbClr val="FFFFFF"/>
                </a:solidFill>
                <a:latin typeface="Aptos"/>
              </a:rPr>
              <a:t> et alertes</a:t>
            </a:r>
            <a:endParaRPr sz="14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4773168"/>
            <a:ext cx="2404872" cy="658368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30690" y="4773168"/>
            <a:ext cx="2011680" cy="658368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3219" y="4787893"/>
            <a:ext cx="2011680" cy="658368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4339" y="4954730"/>
            <a:ext cx="2011680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Aptos"/>
              </a:rPr>
              <a:t>Logs app</a:t>
            </a:r>
            <a:r>
              <a:rPr lang="fr-CH" sz="1250" b="1" dirty="0">
                <a:solidFill>
                  <a:srgbClr val="FFFFFF"/>
                </a:solidFill>
                <a:latin typeface="Aptos"/>
              </a:rPr>
              <a:t> / métrique / </a:t>
            </a:r>
            <a:r>
              <a:rPr lang="fr-CH" sz="1250" b="1" dirty="0" err="1">
                <a:solidFill>
                  <a:srgbClr val="FFFFFF"/>
                </a:solidFill>
                <a:latin typeface="Aptos"/>
              </a:rPr>
              <a:t>json</a:t>
            </a:r>
            <a:endParaRPr sz="12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30690" y="4891525"/>
            <a:ext cx="2011680" cy="4216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fr-CH" sz="1250" b="1" dirty="0">
                <a:solidFill>
                  <a:srgbClr val="FFFFFF"/>
                </a:solidFill>
                <a:latin typeface="Aptos"/>
              </a:rPr>
              <a:t>Amazone </a:t>
            </a:r>
            <a:r>
              <a:rPr lang="fr-CH" sz="1250" b="1" dirty="0" err="1">
                <a:solidFill>
                  <a:srgbClr val="FFFFFF"/>
                </a:solidFill>
                <a:latin typeface="Aptos"/>
              </a:rPr>
              <a:t>OpenSearch</a:t>
            </a:r>
            <a:r>
              <a:rPr lang="fr-CH" sz="1250" b="1" dirty="0">
                <a:solidFill>
                  <a:srgbClr val="FFFFFF"/>
                </a:solidFill>
                <a:latin typeface="Aptos"/>
              </a:rPr>
              <a:t> Service</a:t>
            </a:r>
            <a:endParaRPr sz="12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96640" y="4906250"/>
            <a:ext cx="1664208" cy="4216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fr-CH" sz="1250" b="1" dirty="0">
                <a:solidFill>
                  <a:srgbClr val="FFFFFF"/>
                </a:solidFill>
                <a:latin typeface="Aptos"/>
              </a:rPr>
              <a:t>Recherche  </a:t>
            </a:r>
            <a:r>
              <a:rPr sz="1250" b="1" dirty="0">
                <a:solidFill>
                  <a:srgbClr val="FFFFFF"/>
                </a:solidFill>
                <a:latin typeface="Aptos"/>
              </a:rPr>
              <a:t>Dashboards</a:t>
            </a:r>
            <a:r>
              <a:rPr lang="fr-CH" sz="1250" b="1" dirty="0">
                <a:solidFill>
                  <a:srgbClr val="FFFFFF"/>
                </a:solidFill>
                <a:latin typeface="Aptos"/>
              </a:rPr>
              <a:t> / </a:t>
            </a:r>
            <a:r>
              <a:rPr lang="fr-CH" sz="1250" b="1" dirty="0" err="1">
                <a:solidFill>
                  <a:srgbClr val="FFFFFF"/>
                </a:solidFill>
                <a:latin typeface="Aptos"/>
              </a:rPr>
              <a:t>Alerts</a:t>
            </a:r>
            <a:endParaRPr sz="1250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97B6B4D-F241-1E40-0ABE-E2C00C8AB5A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227832" y="5102352"/>
            <a:ext cx="190285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C8DDD51-1CE4-0F99-366A-495CC0DA1037}"/>
              </a:ext>
            </a:extLst>
          </p:cNvPr>
          <p:cNvCxnSpPr>
            <a:cxnSpLocks/>
          </p:cNvCxnSpPr>
          <p:nvPr/>
        </p:nvCxnSpPr>
        <p:spPr>
          <a:xfrm>
            <a:off x="7142370" y="5082884"/>
            <a:ext cx="190285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6345936"/>
            <a:ext cx="4389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DCDEEE"/>
                </a:solidFill>
                <a:latin typeface="Aptos"/>
              </a:rPr>
              <a:t>HEIG-VD CLD 2025/26 · 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Bénéfices et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9784080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dirty="0">
                <a:solidFill>
                  <a:srgbClr val="D5DAED"/>
                </a:solidFill>
                <a:latin typeface="Aptos"/>
              </a:rPr>
              <a:t>OpenSearch </a:t>
            </a:r>
            <a:r>
              <a:rPr sz="1250" b="0" dirty="0" err="1">
                <a:solidFill>
                  <a:srgbClr val="D5DAED"/>
                </a:solidFill>
                <a:latin typeface="Aptos"/>
              </a:rPr>
              <a:t>est</a:t>
            </a:r>
            <a:r>
              <a:rPr lang="fr-FR" sz="1250" b="0" dirty="0">
                <a:solidFill>
                  <a:srgbClr val="D5DAED"/>
                </a:solidFill>
                <a:latin typeface="Aptos"/>
              </a:rPr>
              <a:t> puissant, mais nécessite un bon dimensionnement</a:t>
            </a:r>
            <a:endParaRPr sz="1250" b="0" dirty="0">
              <a:solidFill>
                <a:srgbClr val="D5DAED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4983480" cy="347472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39696"/>
            <a:ext cx="436168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54C484"/>
                </a:solidFill>
                <a:latin typeface="Aptos"/>
              </a:rP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07208"/>
            <a:ext cx="4343400" cy="2359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Recherche full-text rapide sur de grands volumes.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Observabilité centralisée multi-services.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Dashboards et alertes intégrés.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Intégrations AWS: CloudWatch, S3, Kinesis, Lambda.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Sécurité: chiffrement, VPC, contrôle d’accès fin.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847088"/>
            <a:ext cx="4983480" cy="347472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2139696"/>
            <a:ext cx="436168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EC5B60"/>
                </a:solidFill>
                <a:latin typeface="Aptos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2807208"/>
            <a:ext cx="4343400" cy="2359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Dimensionnement complexe: instances, RAM, shards.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Coût lié au volume et à la rétention.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Pas une base relationnelle: pas de joins ni transactions.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Monitoring et tuning restent nécessaires.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301205"/>
            <a:ext cx="4389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DCDEEE"/>
                </a:solidFill>
                <a:latin typeface="Aptos"/>
              </a:rPr>
              <a:t>HEIG-VD CLD 2025/26 · 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Coût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9784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D5DAED"/>
                </a:solidFill>
                <a:latin typeface="Aptos"/>
              </a:rPr>
              <a:t>Scénario PME: 5 GB/jour, 30 jours de rétention, région EU Zurich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2103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00AABE"/>
                </a:solidFill>
                <a:latin typeface="Aptos Display"/>
              </a:rPr>
              <a:t>5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50008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D5DAED"/>
                </a:solidFill>
                <a:latin typeface="Aptos"/>
              </a:rPr>
              <a:t>logs par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47088"/>
            <a:ext cx="2103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FF9900"/>
                </a:solidFill>
                <a:latin typeface="Aptos Display"/>
              </a:rPr>
              <a:t>30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2350008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D5DAED"/>
                </a:solidFill>
                <a:latin typeface="Aptos"/>
              </a:rPr>
              <a:t>rétention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47088"/>
            <a:ext cx="21031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54C484"/>
                </a:solidFill>
                <a:latin typeface="Aptos Display"/>
              </a:rPr>
              <a:t>168 CHF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350008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D5DAED"/>
                </a:solidFill>
                <a:latin typeface="Aptos"/>
              </a:rPr>
              <a:t>configuration retenue / mois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9712" y="1783080"/>
            <a:ext cx="4434840" cy="1243584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0608" y="1956816"/>
            <a:ext cx="37490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FF9900"/>
                </a:solidFill>
                <a:latin typeface="Aptos"/>
              </a:rPr>
              <a:t>Choix </a:t>
            </a:r>
            <a:r>
              <a:rPr sz="1800" b="1" dirty="0" err="1">
                <a:solidFill>
                  <a:srgbClr val="FF9900"/>
                </a:solidFill>
                <a:latin typeface="Aptos"/>
              </a:rPr>
              <a:t>retenu</a:t>
            </a:r>
            <a:endParaRPr sz="1800" b="1" dirty="0">
              <a:solidFill>
                <a:srgbClr val="FF990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68896" y="2450592"/>
            <a:ext cx="3749039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50" dirty="0">
                <a:solidFill>
                  <a:srgbClr val="FFFFFF"/>
                </a:solidFill>
                <a:latin typeface="Aptos"/>
              </a:rPr>
              <a:t>2x t3.medium.search + 2x 150 GB gp3 = $186.52/</a:t>
            </a:r>
            <a:r>
              <a:rPr sz="1250" dirty="0" err="1">
                <a:solidFill>
                  <a:srgbClr val="FFFFFF"/>
                </a:solidFill>
                <a:latin typeface="Aptos"/>
              </a:rPr>
              <a:t>mois</a:t>
            </a:r>
            <a:endParaRPr sz="125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3767328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t3.small.search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794760"/>
            <a:ext cx="5120640" cy="201168"/>
          </a:xfrm>
          <a:prstGeom prst="rect">
            <a:avLst/>
          </a:prstGeom>
          <a:solidFill>
            <a:srgbClr val="1F1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3794760"/>
            <a:ext cx="870508" cy="201168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3767328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$119/mo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t3.medium.search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370832"/>
            <a:ext cx="5120640" cy="201168"/>
          </a:xfrm>
          <a:prstGeom prst="rect">
            <a:avLst/>
          </a:prstGeom>
          <a:solidFill>
            <a:srgbClr val="1F1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0" y="4370832"/>
            <a:ext cx="1367942" cy="201168"/>
          </a:xfrm>
          <a:prstGeom prst="rect">
            <a:avLst/>
          </a:prstGeom>
          <a:solidFill>
            <a:srgbClr val="54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4343400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$187/mo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Serverless min.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946904"/>
            <a:ext cx="5120640" cy="201168"/>
          </a:xfrm>
          <a:prstGeom prst="rect">
            <a:avLst/>
          </a:prstGeom>
          <a:solidFill>
            <a:srgbClr val="1F1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0" y="4946904"/>
            <a:ext cx="5120640" cy="2011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4919472"/>
            <a:ext cx="868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$700/mo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632704"/>
            <a:ext cx="9235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D5DAED"/>
                </a:solidFill>
                <a:latin typeface="Aptos"/>
              </a:rPr>
              <a:t>Production HA: environ $600-900/mois. Les facteurs majeurs sont rétention, nœuds, stockage et réplicas.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6240" y="6181344"/>
            <a:ext cx="438912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555F70"/>
                </a:solidFill>
                <a:latin typeface="Aptos"/>
              </a:rPr>
              <a:t>HEIG-VD CLD 2025/26 </a:t>
            </a:r>
            <a:r>
              <a:rPr lang="fr-CH" sz="750" b="0" dirty="0">
                <a:solidFill>
                  <a:srgbClr val="555F70"/>
                </a:solidFill>
                <a:latin typeface="Aptos"/>
              </a:rPr>
              <a:t>-</a:t>
            </a:r>
            <a:r>
              <a:rPr sz="750" b="0" dirty="0">
                <a:solidFill>
                  <a:srgbClr val="555F70"/>
                </a:solidFill>
                <a:latin typeface="Aptos"/>
              </a:rPr>
              <a:t> Amazon OpenSearch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212D3C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86384"/>
            <a:ext cx="649224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>
                <a:solidFill>
                  <a:srgbClr val="212D3C"/>
                </a:solidFill>
                <a:latin typeface="Aptos Display"/>
              </a:rPr>
              <a:t>Vendor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389888"/>
            <a:ext cx="67665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555F70"/>
                </a:solidFill>
                <a:latin typeface="Aptos"/>
              </a:rPr>
              <a:t>OpenSearch est open-source, mais le service managé reste intégré à AWS.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6" y="2048256"/>
            <a:ext cx="3383281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88742" cy="2121408"/>
          </a:xfrm>
          <a:prstGeom prst="rect">
            <a:avLst/>
          </a:prstGeom>
          <a:solidFill>
            <a:srgbClr val="54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304288"/>
            <a:ext cx="2717716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12D3C"/>
                </a:solidFill>
                <a:latin typeface="Aptos"/>
              </a:rPr>
              <a:t>Ce qui reste portable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798064"/>
            <a:ext cx="2695530" cy="9146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OpenSearch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est</a:t>
            </a:r>
            <a:r>
              <a:rPr sz="1280" dirty="0">
                <a:solidFill>
                  <a:srgbClr val="555F70"/>
                </a:solidFill>
                <a:latin typeface="Aptos"/>
              </a:rPr>
              <a:t> sous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licence</a:t>
            </a:r>
            <a:r>
              <a:rPr sz="1280" dirty="0">
                <a:solidFill>
                  <a:srgbClr val="555F70"/>
                </a:solidFill>
                <a:latin typeface="Aptos"/>
              </a:rPr>
              <a:t> Apache 2.0.</a:t>
            </a:r>
          </a:p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Concepts et API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peuvent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être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réutilisés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ailleurs</a:t>
            </a:r>
            <a:r>
              <a:rPr sz="1280" dirty="0">
                <a:solidFill>
                  <a:srgbClr val="555F70"/>
                </a:solidFill>
                <a:latin typeface="Apto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5277" y="2052828"/>
            <a:ext cx="3256129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25277" y="2052828"/>
            <a:ext cx="85407" cy="21214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9598" y="2308860"/>
            <a:ext cx="2615578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212D3C"/>
                </a:solidFill>
                <a:latin typeface="Aptos"/>
              </a:rPr>
              <a:t>Ce qui </a:t>
            </a:r>
            <a:r>
              <a:rPr sz="1800" b="1" dirty="0" err="1">
                <a:solidFill>
                  <a:srgbClr val="212D3C"/>
                </a:solidFill>
                <a:latin typeface="Aptos"/>
              </a:rPr>
              <a:t>attache</a:t>
            </a:r>
            <a:r>
              <a:rPr sz="1800" b="1" dirty="0">
                <a:solidFill>
                  <a:srgbClr val="212D3C"/>
                </a:solidFill>
                <a:latin typeface="Aptos"/>
              </a:rPr>
              <a:t> à 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7886" y="2802636"/>
            <a:ext cx="2594226" cy="71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IAM, VPC, CloudWatch, Kinesis.</a:t>
            </a:r>
          </a:p>
          <a:p>
            <a:pPr>
              <a:spcAft>
                <a:spcPts val="700"/>
              </a:spcAft>
            </a:pPr>
            <a:r>
              <a:rPr sz="1280" dirty="0" err="1">
                <a:solidFill>
                  <a:srgbClr val="555F70"/>
                </a:solidFill>
                <a:latin typeface="Aptos"/>
              </a:rPr>
              <a:t>Ces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intégrations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réduisent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l’effort</a:t>
            </a:r>
            <a:r>
              <a:rPr sz="1280" dirty="0">
                <a:solidFill>
                  <a:srgbClr val="555F70"/>
                </a:solidFill>
                <a:latin typeface="Aptos"/>
              </a:rPr>
              <a:t> </a:t>
            </a:r>
            <a:r>
              <a:rPr sz="1280" dirty="0" err="1">
                <a:solidFill>
                  <a:srgbClr val="555F70"/>
                </a:solidFill>
                <a:latin typeface="Aptos"/>
              </a:rPr>
              <a:t>opérationnel</a:t>
            </a:r>
            <a:r>
              <a:rPr sz="1280" dirty="0">
                <a:solidFill>
                  <a:srgbClr val="555F70"/>
                </a:solidFill>
                <a:latin typeface="Aptos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94199" y="2048256"/>
            <a:ext cx="2772266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Rectangle 18"/>
          <p:cNvSpPr/>
          <p:nvPr/>
        </p:nvSpPr>
        <p:spPr>
          <a:xfrm>
            <a:off x="8465037" y="2048256"/>
            <a:ext cx="73152" cy="2121408"/>
          </a:xfrm>
          <a:prstGeom prst="rect">
            <a:avLst/>
          </a:prstGeom>
          <a:solidFill>
            <a:srgbClr val="EC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0" name="TextBox 19"/>
          <p:cNvSpPr txBox="1"/>
          <p:nvPr/>
        </p:nvSpPr>
        <p:spPr>
          <a:xfrm>
            <a:off x="8739357" y="2304288"/>
            <a:ext cx="1847088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12D3C"/>
                </a:solidFill>
                <a:latin typeface="Aptos"/>
              </a:rPr>
              <a:t>Ce qui coûte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7645" y="2798064"/>
            <a:ext cx="2223394" cy="71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80" b="1" dirty="0">
                <a:solidFill>
                  <a:srgbClr val="555F70"/>
                </a:solidFill>
                <a:latin typeface="Aptos"/>
              </a:rPr>
              <a:t>Export, re-indexation.</a:t>
            </a:r>
          </a:p>
          <a:p>
            <a:pPr>
              <a:spcAft>
                <a:spcPts val="700"/>
              </a:spcAft>
            </a:pPr>
            <a:r>
              <a:rPr sz="1280" b="1" dirty="0">
                <a:solidFill>
                  <a:srgbClr val="555F70"/>
                </a:solidFill>
                <a:latin typeface="Aptos"/>
              </a:rPr>
              <a:t>Pipelines et droits à </a:t>
            </a:r>
            <a:r>
              <a:rPr sz="1280" b="1" dirty="0" err="1">
                <a:solidFill>
                  <a:srgbClr val="555F70"/>
                </a:solidFill>
                <a:latin typeface="Aptos"/>
              </a:rPr>
              <a:t>reconfigurer</a:t>
            </a:r>
            <a:r>
              <a:rPr sz="1280" b="1" dirty="0">
                <a:solidFill>
                  <a:srgbClr val="555F70"/>
                </a:solidFill>
                <a:latin typeface="Apto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919472"/>
            <a:ext cx="8183879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fr-CH" sz="1700" b="1" dirty="0">
                <a:solidFill>
                  <a:srgbClr val="212D3C"/>
                </a:solidFill>
                <a:latin typeface="Aptos"/>
              </a:rPr>
              <a:t>Recommandation: </a:t>
            </a:r>
            <a:r>
              <a:rPr sz="1700" b="1" dirty="0">
                <a:solidFill>
                  <a:srgbClr val="212D3C"/>
                </a:solidFill>
                <a:latin typeface="Aptos"/>
              </a:rPr>
              <a:t>acceptable pour </a:t>
            </a:r>
            <a:r>
              <a:rPr sz="1700" b="1" dirty="0" err="1">
                <a:solidFill>
                  <a:srgbClr val="212D3C"/>
                </a:solidFill>
                <a:latin typeface="Aptos"/>
              </a:rPr>
              <a:t>une</a:t>
            </a:r>
            <a:r>
              <a:rPr sz="1700" b="1" dirty="0">
                <a:solidFill>
                  <a:srgbClr val="212D3C"/>
                </a:solidFill>
                <a:latin typeface="Aptos"/>
              </a:rPr>
              <a:t> PME </a:t>
            </a:r>
            <a:r>
              <a:rPr sz="1700" b="1" dirty="0" err="1">
                <a:solidFill>
                  <a:srgbClr val="212D3C"/>
                </a:solidFill>
                <a:latin typeface="Aptos"/>
              </a:rPr>
              <a:t>si</a:t>
            </a:r>
            <a:r>
              <a:rPr sz="1700" b="1" dirty="0">
                <a:solidFill>
                  <a:srgbClr val="212D3C"/>
                </a:solidFill>
                <a:latin typeface="Aptos"/>
              </a:rPr>
              <a:t> les gains </a:t>
            </a:r>
            <a:r>
              <a:rPr sz="1700" b="1" dirty="0" err="1">
                <a:solidFill>
                  <a:srgbClr val="212D3C"/>
                </a:solidFill>
                <a:latin typeface="Aptos"/>
              </a:rPr>
              <a:t>opérationnels</a:t>
            </a:r>
            <a:r>
              <a:rPr sz="1700" b="1" dirty="0">
                <a:solidFill>
                  <a:srgbClr val="212D3C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212D3C"/>
                </a:solidFill>
                <a:latin typeface="Aptos"/>
              </a:rPr>
              <a:t>compensent</a:t>
            </a:r>
            <a:r>
              <a:rPr sz="1700" b="1" dirty="0">
                <a:solidFill>
                  <a:srgbClr val="212D3C"/>
                </a:solidFill>
                <a:latin typeface="Aptos"/>
              </a:rPr>
              <a:t> la </a:t>
            </a:r>
            <a:r>
              <a:rPr sz="1700" b="1" dirty="0" err="1">
                <a:solidFill>
                  <a:srgbClr val="212D3C"/>
                </a:solidFill>
                <a:latin typeface="Aptos"/>
              </a:rPr>
              <a:t>dépendance</a:t>
            </a:r>
            <a:r>
              <a:rPr sz="1700" b="1" dirty="0">
                <a:solidFill>
                  <a:srgbClr val="212D3C"/>
                </a:solidFill>
                <a:latin typeface="Aptos"/>
              </a:rPr>
              <a:t> AWS.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6302574"/>
            <a:ext cx="438912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DCDEEE"/>
                </a:solidFill>
                <a:latin typeface="Aptos"/>
              </a:rPr>
              <a:t>HEIG-VD CLD 2025/26 </a:t>
            </a:r>
            <a:r>
              <a:rPr lang="fr-CH" sz="750" b="0" dirty="0">
                <a:solidFill>
                  <a:srgbClr val="DCDEEE"/>
                </a:solidFill>
                <a:latin typeface="Aptos"/>
              </a:rPr>
              <a:t>- </a:t>
            </a:r>
            <a:r>
              <a:rPr sz="750" b="0" dirty="0">
                <a:solidFill>
                  <a:srgbClr val="DCDEEE"/>
                </a:solidFill>
                <a:latin typeface="Aptos"/>
              </a:rPr>
              <a:t> 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Proof-of-concept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9784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D5DAED"/>
                </a:solidFill>
                <a:latin typeface="Aptos"/>
              </a:rPr>
              <a:t>OpenSearch + Dashboards lancés avant la présentation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4754880" cy="3246120"/>
          </a:xfrm>
          <a:prstGeom prst="rect">
            <a:avLst/>
          </a:prstGeom>
          <a:solidFill>
            <a:srgbClr val="1F1E4C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993392"/>
            <a:ext cx="109728" cy="109728"/>
          </a:xfrm>
          <a:prstGeom prst="ellipse">
            <a:avLst/>
          </a:prstGeom>
          <a:solidFill>
            <a:srgbClr val="EC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93392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1993392"/>
            <a:ext cx="109728" cy="109728"/>
          </a:xfrm>
          <a:prstGeom prst="ellipse">
            <a:avLst/>
          </a:prstGeom>
          <a:solidFill>
            <a:srgbClr val="54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359152"/>
            <a:ext cx="4242816" cy="25328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E2E9F4"/>
                </a:solidFill>
                <a:latin typeface="Aptos"/>
              </a:rPr>
              <a:t>docker compose up -d
OpenSearch
http://localhost:9200
Dashboards
http://localhost:5601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828800"/>
            <a:ext cx="4892040" cy="324612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2121408"/>
            <a:ext cx="427024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00AABE"/>
                </a:solidFill>
                <a:latin typeface="Aptos"/>
              </a:rPr>
              <a:t>Données de démonstration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88920"/>
            <a:ext cx="4251959" cy="21305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15 documents JSON.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Services: webserver, checkout, payment, auth.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Objectif: trouver erreurs 500 et requêtes lentes.</a:t>
            </a:r>
          </a:p>
          <a:p>
            <a:pPr>
              <a:spcAft>
                <a:spcPts val="700"/>
              </a:spcAft>
            </a:pPr>
            <a:r>
              <a:rPr sz="1320">
                <a:solidFill>
                  <a:srgbClr val="FFFFFF"/>
                </a:solidFill>
                <a:latin typeface="Aptos"/>
              </a:rPr>
              <a:t>Manipulation dans OpenSearch Dashboards Dev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6319410"/>
            <a:ext cx="438912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DCDEEE"/>
                </a:solidFill>
                <a:latin typeface="Aptos"/>
              </a:rPr>
              <a:t>HEIG-VD CLD 2025/26 </a:t>
            </a:r>
            <a:r>
              <a:rPr lang="fr-CH" sz="750" b="0" dirty="0">
                <a:solidFill>
                  <a:srgbClr val="DCDEEE"/>
                </a:solidFill>
                <a:latin typeface="Aptos"/>
              </a:rPr>
              <a:t>- </a:t>
            </a:r>
            <a:r>
              <a:rPr sz="750" b="0" dirty="0">
                <a:solidFill>
                  <a:srgbClr val="DCDEEE"/>
                </a:solidFill>
                <a:latin typeface="Aptos"/>
              </a:rPr>
              <a:t> 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Déroulé de la démo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9784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D5DAED"/>
                </a:solidFill>
                <a:latin typeface="Aptos"/>
              </a:rPr>
              <a:t>Chercher, filtrer, croiser, puis agréger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865376"/>
            <a:ext cx="2304288" cy="342900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2139696"/>
            <a:ext cx="786384" cy="2926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208276"/>
            <a:ext cx="78638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50" b="1">
                <a:solidFill>
                  <a:srgbClr val="26245B"/>
                </a:solidFill>
                <a:latin typeface="Aptos"/>
              </a:rPr>
              <a:t>ÉTAPE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06040"/>
            <a:ext cx="19019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Rechercher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182880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20" dirty="0">
                <a:solidFill>
                  <a:srgbClr val="D5DAED"/>
                </a:solidFill>
                <a:latin typeface="Aptos"/>
              </a:rPr>
              <a:t>1. Tous les logs</a:t>
            </a:r>
          </a:p>
          <a:p>
            <a:pPr>
              <a:spcAft>
                <a:spcPts val="800"/>
              </a:spcAft>
            </a:pPr>
            <a:r>
              <a:rPr sz="1220" dirty="0">
                <a:solidFill>
                  <a:srgbClr val="D5DAED"/>
                </a:solidFill>
                <a:latin typeface="Aptos"/>
              </a:rPr>
              <a:t>GET /logs/_search</a:t>
            </a:r>
          </a:p>
          <a:p>
            <a:pPr>
              <a:spcAft>
                <a:spcPts val="800"/>
              </a:spcAft>
            </a:pPr>
            <a:r>
              <a:rPr sz="1220" dirty="0" err="1">
                <a:solidFill>
                  <a:srgbClr val="D5DAED"/>
                </a:solidFill>
                <a:latin typeface="Aptos"/>
              </a:rPr>
              <a:t>match_all</a:t>
            </a:r>
            <a:endParaRPr sz="1220" dirty="0">
              <a:solidFill>
                <a:srgbClr val="D5DAED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889504" y="3566160"/>
            <a:ext cx="512064" cy="0"/>
          </a:xfrm>
          <a:prstGeom prst="line">
            <a:avLst/>
          </a:prstGeom>
          <a:ln w="25400">
            <a:solidFill>
              <a:srgbClr val="D218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01568" y="1865376"/>
            <a:ext cx="2304288" cy="342900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21024" y="2139696"/>
            <a:ext cx="786384" cy="2926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2208276"/>
            <a:ext cx="78638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50" b="1">
                <a:solidFill>
                  <a:srgbClr val="26245B"/>
                </a:solidFill>
                <a:latin typeface="Aptos"/>
              </a:rPr>
              <a:t>ÉTAPE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606040"/>
            <a:ext cx="19019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Filtrer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54680"/>
            <a:ext cx="182880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20" dirty="0">
                <a:solidFill>
                  <a:srgbClr val="D5DAED"/>
                </a:solidFill>
                <a:latin typeface="Aptos"/>
              </a:rPr>
              <a:t>2. ERROR </a:t>
            </a:r>
            <a:r>
              <a:rPr sz="1220" dirty="0" err="1">
                <a:solidFill>
                  <a:srgbClr val="D5DAED"/>
                </a:solidFill>
                <a:latin typeface="Aptos"/>
              </a:rPr>
              <a:t>uniquement</a:t>
            </a:r>
            <a:endParaRPr sz="1220" dirty="0">
              <a:solidFill>
                <a:srgbClr val="D5DAE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220" dirty="0">
                <a:solidFill>
                  <a:srgbClr val="D5DAED"/>
                </a:solidFill>
                <a:latin typeface="Aptos"/>
              </a:rPr>
              <a:t>3. HTTP 500+</a:t>
            </a:r>
          </a:p>
          <a:p>
            <a:pPr>
              <a:spcAft>
                <a:spcPts val="800"/>
              </a:spcAft>
            </a:pPr>
            <a:r>
              <a:rPr sz="1220" dirty="0">
                <a:solidFill>
                  <a:srgbClr val="D5DAED"/>
                </a:solidFill>
                <a:latin typeface="Aptos"/>
              </a:rPr>
              <a:t>4. </a:t>
            </a:r>
            <a:r>
              <a:rPr sz="1220" dirty="0" err="1">
                <a:solidFill>
                  <a:srgbClr val="D5DAED"/>
                </a:solidFill>
                <a:latin typeface="Aptos"/>
              </a:rPr>
              <a:t>responseTimeMs</a:t>
            </a:r>
            <a:r>
              <a:rPr sz="1220" dirty="0">
                <a:solidFill>
                  <a:srgbClr val="D5DAED"/>
                </a:solidFill>
                <a:latin typeface="Aptos"/>
              </a:rPr>
              <a:t> &gt; 1000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05856" y="3566160"/>
            <a:ext cx="512064" cy="0"/>
          </a:xfrm>
          <a:prstGeom prst="line">
            <a:avLst/>
          </a:prstGeom>
          <a:ln w="25400">
            <a:solidFill>
              <a:srgbClr val="D218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17920" y="1865376"/>
            <a:ext cx="2304288" cy="342900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37376" y="2139696"/>
            <a:ext cx="786384" cy="292608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2208276"/>
            <a:ext cx="78638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50" b="1">
                <a:solidFill>
                  <a:srgbClr val="26245B"/>
                </a:solidFill>
                <a:latin typeface="Aptos"/>
              </a:rPr>
              <a:t>ÉTAPE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606040"/>
            <a:ext cx="19019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Croiser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154680"/>
            <a:ext cx="182880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20">
                <a:solidFill>
                  <a:srgbClr val="D5DAED"/>
                </a:solidFill>
                <a:latin typeface="Aptos"/>
              </a:rPr>
              <a:t>5. ERROR + lente</a:t>
            </a:r>
          </a:p>
          <a:p>
            <a:pPr>
              <a:spcAft>
                <a:spcPts val="800"/>
              </a:spcAft>
            </a:pPr>
            <a:r>
              <a:rPr sz="1220">
                <a:solidFill>
                  <a:srgbClr val="D5DAED"/>
                </a:solidFill>
                <a:latin typeface="Aptos"/>
              </a:rPr>
              <a:t>Incidents critiques</a:t>
            </a:r>
          </a:p>
          <a:p>
            <a:pPr>
              <a:spcAft>
                <a:spcPts val="800"/>
              </a:spcAft>
            </a:pPr>
            <a:r>
              <a:rPr sz="1220">
                <a:solidFill>
                  <a:srgbClr val="D5DAED"/>
                </a:solidFill>
                <a:latin typeface="Aptos"/>
              </a:rPr>
              <a:t>Priorisation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22208" y="3566160"/>
            <a:ext cx="512064" cy="0"/>
          </a:xfrm>
          <a:prstGeom prst="line">
            <a:avLst/>
          </a:prstGeom>
          <a:ln w="25400">
            <a:solidFill>
              <a:srgbClr val="D218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34272" y="1865376"/>
            <a:ext cx="2304288" cy="342900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53728" y="2139696"/>
            <a:ext cx="786384" cy="292608"/>
          </a:xfrm>
          <a:prstGeom prst="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53728" y="2208276"/>
            <a:ext cx="78638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50" b="1">
                <a:solidFill>
                  <a:srgbClr val="26245B"/>
                </a:solidFill>
                <a:latin typeface="Aptos"/>
              </a:rPr>
              <a:t>ÉTAPE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606040"/>
            <a:ext cx="19019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Agréger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3154680"/>
            <a:ext cx="182880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20">
                <a:solidFill>
                  <a:srgbClr val="D5DAED"/>
                </a:solidFill>
                <a:latin typeface="Aptos"/>
              </a:rPr>
              <a:t>6. Erreurs par service</a:t>
            </a:r>
          </a:p>
          <a:p>
            <a:pPr>
              <a:spcAft>
                <a:spcPts val="800"/>
              </a:spcAft>
            </a:pPr>
            <a:r>
              <a:rPr sz="1220">
                <a:solidFill>
                  <a:srgbClr val="D5DAED"/>
                </a:solidFill>
                <a:latin typeface="Aptos"/>
              </a:rPr>
              <a:t>7. Latence moyenne</a:t>
            </a:r>
          </a:p>
          <a:p>
            <a:pPr>
              <a:spcAft>
                <a:spcPts val="800"/>
              </a:spcAft>
            </a:pPr>
            <a:r>
              <a:rPr sz="1220">
                <a:solidFill>
                  <a:srgbClr val="D5DAED"/>
                </a:solidFill>
                <a:latin typeface="Aptos"/>
              </a:rPr>
              <a:t>checkout ressort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0568" y="5532120"/>
            <a:ext cx="4343400" cy="694944"/>
          </a:xfrm>
          <a:prstGeom prst="rect">
            <a:avLst/>
          </a:prstGeom>
          <a:solidFill>
            <a:srgbClr val="1F1E4C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22007" y="5650992"/>
            <a:ext cx="109728" cy="109728"/>
          </a:xfrm>
          <a:prstGeom prst="ellipse">
            <a:avLst/>
          </a:prstGeom>
          <a:solidFill>
            <a:srgbClr val="EC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04888" y="5650992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287768" y="5650992"/>
            <a:ext cx="109728" cy="109728"/>
          </a:xfrm>
          <a:prstGeom prst="ellipse">
            <a:avLst/>
          </a:prstGeom>
          <a:solidFill>
            <a:srgbClr val="54C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18604" y="5917898"/>
            <a:ext cx="3831335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dirty="0">
                <a:solidFill>
                  <a:srgbClr val="E2E9F4"/>
                </a:solidFill>
                <a:latin typeface="Aptos"/>
              </a:rPr>
              <a:t>GET /logs/_search  { "query": { "</a:t>
            </a:r>
            <a:r>
              <a:rPr sz="1250" b="0" dirty="0" err="1">
                <a:solidFill>
                  <a:srgbClr val="E2E9F4"/>
                </a:solidFill>
                <a:latin typeface="Aptos"/>
              </a:rPr>
              <a:t>match_all</a:t>
            </a:r>
            <a:r>
              <a:rPr sz="1250" b="0" dirty="0">
                <a:solidFill>
                  <a:srgbClr val="E2E9F4"/>
                </a:solidFill>
                <a:latin typeface="Aptos"/>
              </a:rPr>
              <a:t>": {} }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6281928"/>
            <a:ext cx="4389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DCDEEE"/>
                </a:solidFill>
                <a:latin typeface="Aptos"/>
              </a:rPr>
              <a:t>HEIG-VD CLD 2025/26 · Amazon OpenSearch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5156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Aptos Display"/>
              </a:rPr>
              <a:t>Quand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ptos Display"/>
              </a:rPr>
              <a:t>l’utiliser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9784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dirty="0">
                <a:solidFill>
                  <a:srgbClr val="D5DAED"/>
                </a:solidFill>
                <a:latin typeface="Aptos"/>
              </a:rPr>
              <a:t>La bonne </a:t>
            </a:r>
            <a:r>
              <a:rPr sz="1250" b="0" dirty="0" err="1">
                <a:solidFill>
                  <a:srgbClr val="D5DAED"/>
                </a:solidFill>
                <a:latin typeface="Aptos"/>
              </a:rPr>
              <a:t>décision</a:t>
            </a:r>
            <a:r>
              <a:rPr sz="1250" b="0" dirty="0">
                <a:solidFill>
                  <a:srgbClr val="D5DAE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D5DAED"/>
                </a:solidFill>
                <a:latin typeface="Aptos"/>
              </a:rPr>
              <a:t>dépend</a:t>
            </a:r>
            <a:r>
              <a:rPr sz="1250" b="0" dirty="0">
                <a:solidFill>
                  <a:srgbClr val="D5DAED"/>
                </a:solidFill>
                <a:latin typeface="Aptos"/>
              </a:rPr>
              <a:t> du volume, de la recherche et du budget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828800"/>
            <a:ext cx="4983480" cy="352044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121408"/>
            <a:ext cx="436168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54C484"/>
                </a:solidFill>
                <a:latin typeface="Aptos"/>
              </a:rPr>
              <a:t>Utiliser OpenSearch 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788920"/>
            <a:ext cx="4343400" cy="21174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FFFFFF"/>
                </a:solidFill>
                <a:latin typeface="Aptos"/>
              </a:rPr>
              <a:t>Logs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répartis</a:t>
            </a:r>
            <a:r>
              <a:rPr sz="1600" dirty="0">
                <a:solidFill>
                  <a:srgbClr val="FFFFFF"/>
                </a:solidFill>
                <a:latin typeface="Aptos"/>
              </a:rPr>
              <a:t> sur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plusieurs</a:t>
            </a:r>
            <a:r>
              <a:rPr sz="1600" dirty="0">
                <a:solidFill>
                  <a:srgbClr val="FFFFFF"/>
                </a:solidFill>
                <a:latin typeface="Aptos"/>
              </a:rPr>
              <a:t> services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ou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serveurs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FFFFFF"/>
                </a:solidFill>
                <a:latin typeface="Aptos"/>
              </a:rPr>
              <a:t>Recherche full-text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ou</a:t>
            </a:r>
            <a:r>
              <a:rPr sz="1600" dirty="0">
                <a:solidFill>
                  <a:srgbClr val="FFFFFF"/>
                </a:solidFill>
                <a:latin typeface="Aptos"/>
              </a:rPr>
              <a:t> JSON à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grande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échelle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FFFFFF"/>
                </a:solidFill>
                <a:latin typeface="Aptos"/>
              </a:rPr>
              <a:t>Besoin</a:t>
            </a:r>
            <a:r>
              <a:rPr sz="1600" dirty="0">
                <a:solidFill>
                  <a:srgbClr val="FFFFFF"/>
                </a:solidFill>
                <a:latin typeface="Aptos"/>
              </a:rPr>
              <a:t> de dashboards et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alertes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FFFFFF"/>
                </a:solidFill>
                <a:latin typeface="Aptos"/>
              </a:rPr>
              <a:t>Environnement</a:t>
            </a:r>
            <a:r>
              <a:rPr sz="1600" dirty="0">
                <a:solidFill>
                  <a:srgbClr val="FFFFFF"/>
                </a:solidFill>
                <a:latin typeface="Aptos"/>
              </a:rPr>
              <a:t> déjà AWS.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4983480" cy="3520440"/>
          </a:xfrm>
          <a:prstGeom prst="rect">
            <a:avLst/>
          </a:prstGeom>
          <a:solidFill>
            <a:srgbClr val="312D73"/>
          </a:solidFill>
          <a:ln w="12700">
            <a:solidFill>
              <a:srgbClr val="565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1696" y="2121408"/>
            <a:ext cx="436168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EC5B60"/>
                </a:solidFill>
                <a:latin typeface="Aptos"/>
              </a:rPr>
              <a:t>Éviter OpenSearch 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88920"/>
            <a:ext cx="4343400" cy="22760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FFFFFF"/>
                </a:solidFill>
                <a:latin typeface="Aptos"/>
              </a:rPr>
              <a:t>Besoin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transactionnel</a:t>
            </a:r>
            <a:r>
              <a:rPr sz="1600" dirty="0">
                <a:solidFill>
                  <a:srgbClr val="FFFFFF"/>
                </a:solidFill>
                <a:latin typeface="Aptos"/>
              </a:rPr>
              <a:t>: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choisir</a:t>
            </a:r>
            <a:r>
              <a:rPr sz="1600" dirty="0">
                <a:solidFill>
                  <a:srgbClr val="FFFFFF"/>
                </a:solidFill>
                <a:latin typeface="Aptos"/>
              </a:rPr>
              <a:t> RDS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ou</a:t>
            </a:r>
            <a:r>
              <a:rPr sz="1600" dirty="0">
                <a:solidFill>
                  <a:srgbClr val="FFFFFF"/>
                </a:solidFill>
                <a:latin typeface="Aptos"/>
              </a:rPr>
              <a:t> DynamoDB.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FFFFFF"/>
                </a:solidFill>
                <a:latin typeface="Aptos"/>
              </a:rPr>
              <a:t>CloudWatch Logs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suffit</a:t>
            </a:r>
            <a:r>
              <a:rPr sz="1600" dirty="0">
                <a:solidFill>
                  <a:srgbClr val="FFFFFF"/>
                </a:solidFill>
                <a:latin typeface="Aptos"/>
              </a:rPr>
              <a:t> pour le volume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actuel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FFFFFF"/>
                </a:solidFill>
                <a:latin typeface="Aptos"/>
              </a:rPr>
              <a:t>Budget minimum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d’environ</a:t>
            </a:r>
            <a:r>
              <a:rPr sz="1600" dirty="0">
                <a:solidFill>
                  <a:srgbClr val="FFFFFF"/>
                </a:solidFill>
                <a:latin typeface="Aptos"/>
              </a:rPr>
              <a:t> $100/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mois</a:t>
            </a:r>
            <a:r>
              <a:rPr sz="1600" dirty="0">
                <a:solidFill>
                  <a:srgbClr val="FFFFFF"/>
                </a:solidFill>
                <a:latin typeface="Aptos"/>
              </a:rPr>
              <a:t> non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justifié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FFFFFF"/>
                </a:solidFill>
                <a:latin typeface="Aptos"/>
              </a:rPr>
              <a:t>Lookup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clé-valeur</a:t>
            </a:r>
            <a:r>
              <a:rPr sz="1600" dirty="0">
                <a:solidFill>
                  <a:srgbClr val="FFFFFF"/>
                </a:solidFill>
                <a:latin typeface="Aptos"/>
              </a:rPr>
              <a:t> très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basse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latence</a:t>
            </a:r>
            <a:r>
              <a:rPr sz="1600" dirty="0">
                <a:solidFill>
                  <a:srgbClr val="FFFFFF"/>
                </a:solidFill>
                <a:latin typeface="Aptos"/>
              </a:rPr>
              <a:t>: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ElastiCache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262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7818120" y="5833872"/>
            <a:ext cx="4373575" cy="1024128"/>
          </a:xfrm>
          <a:custGeom>
            <a:avLst/>
            <a:gdLst/>
            <a:ahLst/>
            <a:cxnLst/>
            <a:rect l="l" t="t" r="r" b="b"/>
            <a:pathLst>
              <a:path w="4373575" h="1024128">
                <a:moveTo>
                  <a:pt x="0" y="1024128"/>
                </a:moveTo>
                <a:lnTo>
                  <a:pt x="4373575" y="0"/>
                </a:lnTo>
                <a:lnTo>
                  <a:pt x="4373575" y="1024128"/>
                </a:lnTo>
                <a:close/>
              </a:path>
            </a:pathLst>
          </a:custGeom>
          <a:solidFill>
            <a:srgbClr val="D21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6240" y="6315868"/>
            <a:ext cx="43891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555F70"/>
                </a:solidFill>
                <a:latin typeface="Aptos"/>
              </a:rPr>
              <a:t>HEIG-VD CLD 2025/26 · Amazon OpenSearch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281928"/>
            <a:ext cx="502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0">
                <a:solidFill>
                  <a:srgbClr val="212D3C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6704"/>
            <a:ext cx="43891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600" b="1" dirty="0">
                <a:solidFill>
                  <a:srgbClr val="212D3C"/>
                </a:solidFill>
                <a:latin typeface="Aptos Display"/>
              </a:rPr>
              <a:t>Merci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07792"/>
            <a:ext cx="5897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163824"/>
            <a:ext cx="5349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212D3C"/>
                </a:solidFill>
                <a:latin typeface="Aptos"/>
              </a:rPr>
              <a:t>Sources principales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657600"/>
            <a:ext cx="5330952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Amazon OpenSearch Service documentation</a:t>
            </a:r>
          </a:p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OpenSearch project</a:t>
            </a:r>
          </a:p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AWS pricing page</a:t>
            </a:r>
          </a:p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OpenSearch Dashboards guide</a:t>
            </a:r>
          </a:p>
          <a:p>
            <a:pPr>
              <a:spcAft>
                <a:spcPts val="700"/>
              </a:spcAft>
            </a:pPr>
            <a:r>
              <a:rPr sz="1280" dirty="0">
                <a:solidFill>
                  <a:srgbClr val="555F70"/>
                </a:solidFill>
                <a:latin typeface="Aptos"/>
              </a:rPr>
              <a:t>AWS Well-Architected - Operational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Grand écran</PresentationFormat>
  <Paragraphs>150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victor giordani</dc:creator>
  <cp:keywords/>
  <dc:description>generated using python-pptx</dc:description>
  <cp:lastModifiedBy>victor giordani</cp:lastModifiedBy>
  <cp:revision>3</cp:revision>
  <dcterms:created xsi:type="dcterms:W3CDTF">2013-01-27T09:14:16Z</dcterms:created>
  <dcterms:modified xsi:type="dcterms:W3CDTF">2026-06-06T17:46:13Z</dcterms:modified>
  <cp:category/>
</cp:coreProperties>
</file>